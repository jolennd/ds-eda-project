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per Square Foot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 per Sqft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Central Seattle
(closest 25%)</c:v>
                  </c:pt>
                  <c:pt idx="1">
                    <c:v>Rest of
King County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345</c:v>
                </c:pt>
                <c:pt idx="1">
                  <c:v>220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— Large-Lot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Non-Renovated</c:v>
                  </c:pt>
                  <c:pt idx="1">
                    <c:v>Renovated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530000</c:v>
                </c:pt>
                <c:pt idx="1">
                  <c:v>712500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Sale Price by Month — Country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524112</c:v>
                </c:pt>
                <c:pt idx="1">
                  <c:v>519500</c:v>
                </c:pt>
                <c:pt idx="2">
                  <c:v>530000</c:v>
                </c:pt>
                <c:pt idx="3">
                  <c:v>575000</c:v>
                </c:pt>
                <c:pt idx="4">
                  <c:v>540000</c:v>
                </c:pt>
                <c:pt idx="5">
                  <c:v>552000</c:v>
                </c:pt>
                <c:pt idx="6">
                  <c:v>550000</c:v>
                </c:pt>
                <c:pt idx="7">
                  <c:v>493725</c:v>
                </c:pt>
                <c:pt idx="8">
                  <c:v>540000</c:v>
                </c:pt>
                <c:pt idx="9">
                  <c:v>535000</c:v>
                </c:pt>
                <c:pt idx="10">
                  <c:v>525000</c:v>
                </c:pt>
                <c:pt idx="11">
                  <c:v>515000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&quot;$&quot;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country home purchase comes down to a simple trade-off: August for the lowest median price, or May for about 18% more listings at only a modest premium. 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We Set Out to Answer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1732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040880" y="1828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per square foot within ~6 miles of downtown Seattle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040880" y="36576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 — By Design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1732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040880" y="1828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King County homes have no renovation on record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040880" y="36576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large-lot properties, renovated homes carry a ~34% premium. Non-renovated homes aren’t a compromise — they’re the norm, and they’re the cheaper option.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Determines What You Pay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110642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577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6309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72200" y="5577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172200" y="6309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05840" cy="100584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" y="8558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548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0584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3484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470916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3816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A6D85"/>
          </a:solidFill>
          <a:ln/>
        </p:spPr>
      </p:sp>
      <p:sp>
        <p:nvSpPr>
          <p:cNvPr id="12" name="Text 9"/>
          <p:cNvSpPr/>
          <p:nvPr/>
        </p:nvSpPr>
        <p:spPr>
          <a:xfrm>
            <a:off x="813816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1248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 if 98118 doesn’t work out.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to 1–3 bedrooms — plenty for a household of 2, and it avoids a ~41% size premium.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94360"/>
            <a:ext cx="1005840" cy="100584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" y="8558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548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0584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3484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70916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38160" y="23774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44F26"/>
          </a:solidFill>
          <a:ln/>
        </p:spPr>
      </p:sp>
      <p:sp>
        <p:nvSpPr>
          <p:cNvPr id="12" name="Text 9"/>
          <p:cNvSpPr/>
          <p:nvPr/>
        </p:nvSpPr>
        <p:spPr>
          <a:xfrm>
            <a:off x="813816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412480" y="3611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the Country Home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27346E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 August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median price of the year for country homes — $493,725. Best if savings matter most.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64592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27346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 May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18% more country-home listings than August, at only a ~9% price premium.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9052560" y="4526280"/>
            <a:ext cx="914400" cy="9144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4" y="4764024"/>
            <a:ext cx="438912" cy="43891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5440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2026-07-24T07:13:50Z</dcterms:created>
  <dcterms:modified xsi:type="dcterms:W3CDTF">2026-07-24T07:13:50Z</dcterms:modified>
</cp:coreProperties>
</file>