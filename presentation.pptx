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262626"/>
                </a:solidFill>
                <a:latin typeface="Calibri"/>
              </a:rPr>
              <a:t>Median Price per Square Foot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 per Sqft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626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Central Seattle
(closest 25%)</c:v>
                  </c:pt>
                  <c:pt idx="1">
                    <c:v>Rest of
King County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345</c:v>
                </c:pt>
                <c:pt idx="1">
                  <c:v>220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626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262626"/>
                </a:solidFill>
                <a:latin typeface="Calibri"/>
              </a:rPr>
              <a:t>Median Price — Large-Lot Homes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Price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626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Non-Renovated</c:v>
                  </c:pt>
                  <c:pt idx="1">
                    <c:v>Renovated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530000</c:v>
                </c:pt>
                <c:pt idx="1">
                  <c:v>712500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626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262626"/>
                </a:solidFill>
                <a:latin typeface="Calibri"/>
              </a:rPr>
              <a:t>Median Sale Price by Month — Country Homes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Price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524112</c:v>
                </c:pt>
                <c:pt idx="1">
                  <c:v>519500</c:v>
                </c:pt>
                <c:pt idx="2">
                  <c:v>530000</c:v>
                </c:pt>
                <c:pt idx="3">
                  <c:v>575000</c:v>
                </c:pt>
                <c:pt idx="4">
                  <c:v>540000</c:v>
                </c:pt>
                <c:pt idx="5">
                  <c:v>552000</c:v>
                </c:pt>
                <c:pt idx="6">
                  <c:v>550000</c:v>
                </c:pt>
                <c:pt idx="7">
                  <c:v>493725</c:v>
                </c:pt>
                <c:pt idx="8">
                  <c:v>540000</c:v>
                </c:pt>
                <c:pt idx="9">
                  <c:v>535000</c:v>
                </c:pt>
                <c:pt idx="10">
                  <c:v>525000</c:v>
                </c:pt>
                <c:pt idx="11">
                  <c:v>515000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&quot;$&quot;#,##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William Rodriguez is buying two properties at once: a country home where timing and a willingness to skip renovated listings are priorities, and a city home where speed and centrality matter most. Everything in this deck is built to serve those two, sometimes opposite, goals.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We're working with a full year of King County home sales, just over 21,500 transactions, joined to the county's property detail records so we know size, condition, location, and renovation history for every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research questions guided the analysis: does where a home sits drive its price, does renovation status change what buyers pay, and is there a seasonal pattern that points to a better or worse time to buy.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Homes in the closest quarter of the market to downtown Seattle sell for a median $345 per square foot, versus $220 for the rest of the county — a 57 percent premium. Large-lot homes don't sell for less in total, but they are cheaper per square foot, since more of the price is land rather than house.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Among large-lot properties, renovated homes have a median price of $712,500 versus $530,000 for non-renovated ones, a 34 percent premium. Ninety-seven percent of homes countywide have no renovation on record, so non-renovated is both the typical listing and the cheaper one — good news given the client's preference.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country homes specifically, median price is lowest in August and highest in April, while sales volume is lowest in January and peaks in May. City homes actually follow a different pattern — their median price is lowest in November and highest in March — so the two searches shouldn't be timed the same way. Since timing matters most for the country home, August is the window we recommend targeting.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city home, zip code 98118 is the closest high-turnover zip to downtown at 7.9 kilometers, with the most sales activity among affordable central zips — 507 sales in the window — and the lowest median price of that group at $367,500. 98103, 98115, and 98117 are close backups. Worth noting too: since this is a household of 2, sticking to 1 to 3 bedroom listings covers 59 percent of the market and avoids paying a roughly 41 percent premium for bedrooms that won't get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country home, zip codes 98010 and 98014 stand out: genuinely large-lot areas more than 30 kilometers from downtown, where 68 to 85 percent of homes qualify as large-lot versus a 25 percent cutoff countywide, with affordable medians of $360,000 and $415,000. Non-renovated listings are both the norm and the better deal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country home purchase comes down to a simple trade-off: August for the lowest median price, or May for about 18% more listings at only a modest premium. That's the full picture — happy to open it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8686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Homes,</a:t>
            </a:r>
            <a:endParaRPr lang="en-US" sz="5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County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379476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Home Search for William Rodriguez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6126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County Housing Market Analysis   ·   Sales from May 2014 – May 2015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966960" y="2377440"/>
            <a:ext cx="1737360" cy="173736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8674" y="2829154"/>
            <a:ext cx="833933" cy="8339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Rodriguez  —  buyer, household of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Client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DCEEF2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33172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078" y="259323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40280" y="2377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City Home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051560" y="365760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to move fast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a central location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336792" y="192024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E1EBDA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748272" y="2331720"/>
            <a:ext cx="1005840" cy="10058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9790" y="2593238"/>
            <a:ext cx="482803" cy="482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936992" y="2377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Country Home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748272" y="365760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possible timing to buy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(actually prefers) non-renovated homes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50" y="716890"/>
            <a:ext cx="395021" cy="3950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5029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Looked At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82296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21,597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sales analyzed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43484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months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43484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2014 – May 2015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County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04672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Seattle &amp; surrounding area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52120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records were joined against county property details — size, condition, location, and renovation history — for every transaction in the window.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We Set Out to Answer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97280" y="196596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024" y="220370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3172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location drive price?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1097280" y="3383280"/>
            <a:ext cx="914400" cy="9144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024" y="3621024"/>
            <a:ext cx="438912" cy="4389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331720" y="3520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renovation status matter?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1097280" y="4800600"/>
            <a:ext cx="914400" cy="914400"/>
          </a:xfrm>
          <a:prstGeom prst="ellipse">
            <a:avLst/>
          </a:prstGeom>
          <a:solidFill>
            <a:srgbClr val="5B4B8A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5038344"/>
            <a:ext cx="438912" cy="43891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331720" y="49377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best time to buy?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 Commands a Premium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17320"/>
          <a:ext cx="60350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7040880" y="1828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57%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040880" y="2560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per square foot within ~6 miles of downtown Seattle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040880" y="365760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Large-lot “country” homes don’t sell for less overall — but they do cost less per square foot of living space, since the buyer is paying for land, not finished floor area.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Non-Renovated Homes Cost Less — By Design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17320"/>
          <a:ext cx="60350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7040880" y="1828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97%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040880" y="2560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King County homes have no renovation on record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040880" y="365760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large-lot properties, renovated homes carry a ~34% premium. Non-renovated homes aren’t a compromise — they’re the norm, and they’re the cheaper option.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 Buy Changes What You Pay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homes specifically — city homes follow a different, later-year pattern.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1106424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22960" y="55778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Aug – $493,725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63093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median price for country homes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172200" y="55778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 – 604 sales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172200" y="63093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country-home listings to choose from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94360"/>
            <a:ext cx="1005840" cy="1005840"/>
          </a:xfrm>
          <a:prstGeom prst="ellipse">
            <a:avLst/>
          </a:prstGeom>
          <a:solidFill>
            <a:srgbClr val="155A6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038" y="855878"/>
            <a:ext cx="482803" cy="482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5486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City Home  →  Zip 98118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237744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1A6D85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2743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7.9 km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1005840" y="36118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downtown Seattle — the closest of the high-turnover zips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434840" y="237744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1A6D85"/>
          </a:solidFill>
          <a:ln/>
        </p:spPr>
      </p:sp>
      <p:sp>
        <p:nvSpPr>
          <p:cNvPr id="9" name="Text 6"/>
          <p:cNvSpPr/>
          <p:nvPr/>
        </p:nvSpPr>
        <p:spPr>
          <a:xfrm>
            <a:off x="4434840" y="2743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507 sales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4709160" y="36118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12-month window — highest turnover among affordable central zips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138160" y="237744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1A6D85"/>
          </a:solidFill>
          <a:ln/>
        </p:spPr>
      </p:sp>
      <p:sp>
        <p:nvSpPr>
          <p:cNvPr id="12" name="Text 9"/>
          <p:cNvSpPr/>
          <p:nvPr/>
        </p:nvSpPr>
        <p:spPr>
          <a:xfrm>
            <a:off x="8138160" y="2743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$367,500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412480" y="36118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price — the most affordable of that group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98103, 98115, and 98117 are strong second choices if 98118 doesn’t work out.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to 1–3 bedrooms — plenty for a household of 2, and it avoids a ~41% size premium.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94360"/>
            <a:ext cx="1005840" cy="1005840"/>
          </a:xfrm>
          <a:prstGeom prst="ellipse">
            <a:avLst/>
          </a:prstGeom>
          <a:solidFill>
            <a:srgbClr val="1E46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038" y="855878"/>
            <a:ext cx="482803" cy="482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5486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Country Home  →  Zip 98010 or 98014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31520" y="237744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244F26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2743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30+ km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005840" y="36118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E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downtown — genuinely rural, not just “outside city limits”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434840" y="237744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244F26"/>
          </a:solidFill>
          <a:ln/>
        </p:spPr>
      </p:sp>
      <p:sp>
        <p:nvSpPr>
          <p:cNvPr id="9" name="Text 6"/>
          <p:cNvSpPr/>
          <p:nvPr/>
        </p:nvSpPr>
        <p:spPr>
          <a:xfrm>
            <a:off x="4434840" y="2743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68–85%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709160" y="36118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E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homes in these zips are large-lot — real country character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138160" y="237744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244F26"/>
          </a:solidFill>
          <a:ln/>
        </p:spPr>
      </p:sp>
      <p:sp>
        <p:nvSpPr>
          <p:cNvPr id="12" name="Text 9"/>
          <p:cNvSpPr/>
          <p:nvPr/>
        </p:nvSpPr>
        <p:spPr>
          <a:xfrm>
            <a:off x="8138160" y="2743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$360K–$415K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8412480" y="36118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E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price — well below the county median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31520" y="58064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CE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into non-renovated listings here — they’re the majority of homes and meaningfully cheaper.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the Country Home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64592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27346E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202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in August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24688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median price of the year for country homes — $493,725. Best if savings matter most.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64592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27346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9202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in May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0" y="24688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18% more country-home listings than August, at only a ~9% price premium.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6634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9052560" y="4526280"/>
            <a:ext cx="914400" cy="91440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304" y="4764024"/>
            <a:ext cx="438912" cy="43891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31520" y="54406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2026-07-23T09:49:22Z</dcterms:created>
  <dcterms:modified xsi:type="dcterms:W3CDTF">2026-07-23T09:49:22Z</dcterms:modified>
</cp:coreProperties>
</file>