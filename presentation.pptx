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William Rodriguez is buying two properties at once: a country home where timing and a willingness to skip renovated listings are priorities, and a city home where speed and centrality matter most. Everything in this deck is built to serve those two, sometimes opposite, goals.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business question behind the whole analysis: what actually drives home prices in King County. We break it into three specific, testable hypotheses next, then answer each one for William's two searches specifically.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We're working with a full year of King County home sales, just over 21,500 transactions, joined to the county's property detail records so we know size, condition, location, and renovation history for every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research questions guided the analysis: does where a home sits drive its price, does renovation status change what buyers pay, and is there a seasonal pattern that points to a better or worse time to buy.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Homes in the closest quarter of the market to downtown Seattle sell for a median $345 per square foot, versus $220 for the rest of the county — a 57 percent premium. Large-lot homes don't sell for less in total, but they are cheaper per square foot, since more of the price is land rather than house.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Among large-lot properties, renovated homes have a median price of $712,500 versus $530,000 for non-renovated ones, a 34 percent premium. Ninety-seven percent of homes countywide have no renovation on record, so non-renovated is both the typical listing and the cheaper one — good news given the client's preference.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country homes specifically, median price is lowest in August and highest in April, while sales volume is lowest in January and peaks in May. City homes actually follow a different pattern — their median price is lowest in November and highest in March — so the two searches shouldn't be timed the same way. Since timing matters most for the country home, August is the window we recommend targeting.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city home, zip code 98118 is the closest high-turnover zip to downtown at 7.9 kilometers, with the most sales activity among affordable central zips — 507 sales in the window — and the lowest median price of that group at $367,500. 98103, 98115, and 98117 are close backups. Worth noting too: since this is a household of 2, sticking to 1 to 3 bedroom listings covers 59 percent of the market and avoids paying a roughly 41 percent premium for bedrooms that won't get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country home, zip codes 98010 and 98014 stand out: genuinely large-lot areas more than 30 kilometers from downtown, where 68 to 85 percent of homes qualify as large-lot versus a 25 percent cutoff countywide, with affordable medians of $360,000 and $415,000. Non-renovated listings are both the norm and the better deal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recap: city home in zip 98118 filtered to 1-3 bedrooms, country home in zip 98010 or 98014 leaning non-renovated, and if timing matters for the country search, August for the lowest price or May for more inventory at a small premium.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the full picture — happy to open it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8686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Homes,</a:t>
            </a:r>
            <a:endParaRPr lang="en-US" sz="5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County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379476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Data-Driven Home Search for William Rodriguez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6126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 County Housing Market Analysis   ·   Sales from May 2014 – May 2015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966960" y="2377440"/>
            <a:ext cx="1737360" cy="1737360"/>
          </a:xfrm>
          <a:prstGeom prst="ellipse">
            <a:avLst/>
          </a:prstGeom>
          <a:solidFill>
            <a:srgbClr val="27346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8674" y="2829154"/>
            <a:ext cx="833933" cy="83393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Rodriguez  —  buyer, household of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the Client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12080" cy="4206240"/>
          </a:xfrm>
          <a:prstGeom prst="roundRect">
            <a:avLst>
              <a:gd name="adj" fmla="val 2609"/>
            </a:avLst>
          </a:prstGeom>
          <a:solidFill>
            <a:srgbClr val="DCEEF2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331720"/>
            <a:ext cx="1005840" cy="10058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3078" y="2593238"/>
            <a:ext cx="482803" cy="482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240280" y="2377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City Home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051560" y="3657600"/>
            <a:ext cx="429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to move fast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 a central location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336792" y="1920240"/>
            <a:ext cx="5212080" cy="4206240"/>
          </a:xfrm>
          <a:prstGeom prst="roundRect">
            <a:avLst>
              <a:gd name="adj" fmla="val 2609"/>
            </a:avLst>
          </a:prstGeom>
          <a:solidFill>
            <a:srgbClr val="E1EBDA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748272" y="2331720"/>
            <a:ext cx="1005840" cy="10058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9790" y="2593238"/>
            <a:ext cx="482803" cy="482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936992" y="2377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Country Home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748272" y="365760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possible timing to buy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(actually prefers) non-renovated homes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8F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QUESTION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factors influence the price of homes in King County?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48056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and recommendation in this deck traces back to this one question — answered specifically for William's two searches, not the market in general.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058400" y="5394960"/>
            <a:ext cx="1188720" cy="1188720"/>
          </a:xfrm>
          <a:prstGeom prst="ellipse">
            <a:avLst/>
          </a:prstGeom>
          <a:solidFill>
            <a:srgbClr val="27346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7467" y="5704027"/>
            <a:ext cx="570586" cy="57058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50" y="716890"/>
            <a:ext cx="395021" cy="39502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5029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Looked At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82296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21,597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3474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sales analyzed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43484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months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4434840" y="3474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2014 – May 2015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County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046720" y="3474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Seattle &amp; surrounding area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52120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records were joined against county property details — size, condition, location, and renovation history — for every transaction in the window.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Hypotheses We Tested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97280" y="196596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5024" y="220370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31720" y="2103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F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1  — 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location drive price?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1097280" y="3383280"/>
            <a:ext cx="914400" cy="9144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024" y="3621024"/>
            <a:ext cx="438912" cy="4389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331720" y="3520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F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2  — 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renovation status matter?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1097280" y="4800600"/>
            <a:ext cx="914400" cy="914400"/>
          </a:xfrm>
          <a:prstGeom prst="ellipse">
            <a:avLst/>
          </a:prstGeom>
          <a:solidFill>
            <a:srgbClr val="5B4B8A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5038344"/>
            <a:ext cx="438912" cy="43891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331720" y="49377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F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3  — 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best time to buy?</a:t>
            </a:r>
            <a:endParaRPr lang="en-US" sz="2400" dirty="0"/>
          </a:p>
        </p:txBody>
      </p:sp>
      <p:sp>
        <p:nvSpPr>
          <p:cNvPr id="13" name="Text 7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Location Commands a Premium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home within ~6 miles of downtown Seattle costs about 57% more per square foot than one farther out.</a:t>
            </a:r>
            <a:endParaRPr lang="en-US" sz="1600" dirty="0"/>
          </a:p>
        </p:txBody>
      </p:sp>
      <p:pic>
        <p:nvPicPr>
          <p:cNvPr id="4" name="Image 0" descr="chart_lo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74520"/>
            <a:ext cx="539496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949440" y="219456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Large-lot “country” homes don’t sell for less overall — but they do cost less per square foot of living space, since the buyer is paying for land, not finished floor area.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Non-Renovated Homes Cost Less — By Design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non-renovated homes are both the norm (97% of listings) and the cheaper option — a ~34% savings among large-lot homes.</a:t>
            </a:r>
            <a:endParaRPr lang="en-US" sz="1600" dirty="0"/>
          </a:p>
        </p:txBody>
      </p:sp>
      <p:pic>
        <p:nvPicPr>
          <p:cNvPr id="4" name="Image 0" descr="chart_renov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74520"/>
            <a:ext cx="539496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949440" y="219456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97% of King County homes have no renovation on record. Non-renovated isn’t a compromise here — it’s the typical listing, which lines up well with William’s stated preference.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 Buy Determines What You Pay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country homes, August is the cheapest month to close (median $493,725) — worth timing around if savings matter most.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homes specifically — city homes follow a different, later-year pattern.</a:t>
            </a:r>
            <a:endParaRPr lang="en-US" sz="1300" dirty="0"/>
          </a:p>
        </p:txBody>
      </p:sp>
      <p:pic>
        <p:nvPicPr>
          <p:cNvPr id="5" name="Image 0" descr="chart_tim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783080"/>
            <a:ext cx="10058400" cy="36758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562356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Aug – $493,725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63550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median price for country homes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72200" y="562356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 – 604 sales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6172200" y="63550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country-home listings to choose from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155A6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694944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438912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City Home  →  Zip 98118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40080" y="1280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98118 is the closest high-turnover, affordable zip to downtown — the strongest match for “fast and central.”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580644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/>
        </p:spPr>
      </p:sp>
      <p:pic>
        <p:nvPicPr>
          <p:cNvPr id="7" name="Image 1" descr="chart_slide9_zip_bubb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5532120" cy="3685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7240" y="576072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6D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vs. large-lot share, sized by sales, colored by price — 98118 circled.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6656832" y="2011680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1A6D85"/>
          </a:solidFill>
          <a:ln/>
        </p:spPr>
      </p:sp>
      <p:sp>
        <p:nvSpPr>
          <p:cNvPr id="10" name="Text 6"/>
          <p:cNvSpPr/>
          <p:nvPr/>
        </p:nvSpPr>
        <p:spPr>
          <a:xfrm>
            <a:off x="6858000" y="21214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7.9 km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6858000" y="257860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downtown Seattle — the closest of the high-turnover zips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656832" y="3419856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1A6D85"/>
          </a:solidFill>
          <a:ln/>
        </p:spPr>
      </p:sp>
      <p:sp>
        <p:nvSpPr>
          <p:cNvPr id="13" name="Text 9"/>
          <p:cNvSpPr/>
          <p:nvPr/>
        </p:nvSpPr>
        <p:spPr>
          <a:xfrm>
            <a:off x="6858000" y="352958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507 sales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6858000" y="398678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12-month window — highest turnover among affordable central zips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656832" y="4828032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1A6D85"/>
          </a:solidFill>
          <a:ln/>
        </p:spPr>
      </p:sp>
      <p:sp>
        <p:nvSpPr>
          <p:cNvPr id="16" name="Text 12"/>
          <p:cNvSpPr/>
          <p:nvPr/>
        </p:nvSpPr>
        <p:spPr>
          <a:xfrm>
            <a:off x="6858000" y="49377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$367,500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685800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price — the most affordable of that group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656832" y="6281928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98103, 98115, and 98117 are strong second choices. Filter to 1–3 bedrooms — plenty for a household of 2, avoiding a ~41% size premium.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1E46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694944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438912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Country Home  →  Zip 98010 or 98014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640080" y="1280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98010 and 98014 are genuinely rural, affordable, and still liquid enough to search — the strongest match for William's timing and non-renovated preference.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580644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/>
        </p:spPr>
      </p:sp>
      <p:pic>
        <p:nvPicPr>
          <p:cNvPr id="7" name="Image 1" descr="chart_slide9_zip_bubb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5532120" cy="3685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7240" y="576072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4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vs. large-lot share, sized by sales, colored by price — 98010 &amp; 98014 circled.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6656832" y="2011680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244F26"/>
          </a:solidFill>
          <a:ln/>
        </p:spPr>
      </p:sp>
      <p:sp>
        <p:nvSpPr>
          <p:cNvPr id="10" name="Text 6"/>
          <p:cNvSpPr/>
          <p:nvPr/>
        </p:nvSpPr>
        <p:spPr>
          <a:xfrm>
            <a:off x="6858000" y="21214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30+ km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0" y="257860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downtown — genuinely rural, not just “outside city limits”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656832" y="3419856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244F26"/>
          </a:solidFill>
          <a:ln/>
        </p:spPr>
      </p:sp>
      <p:sp>
        <p:nvSpPr>
          <p:cNvPr id="13" name="Text 9"/>
          <p:cNvSpPr/>
          <p:nvPr/>
        </p:nvSpPr>
        <p:spPr>
          <a:xfrm>
            <a:off x="6858000" y="352958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68–85%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858000" y="398678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homes in these zips are large-lot — real country character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656832" y="4828032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244F26"/>
          </a:solidFill>
          <a:ln/>
        </p:spPr>
      </p:sp>
      <p:sp>
        <p:nvSpPr>
          <p:cNvPr id="16" name="Text 12"/>
          <p:cNvSpPr/>
          <p:nvPr/>
        </p:nvSpPr>
        <p:spPr>
          <a:xfrm>
            <a:off x="6858000" y="49377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$360K–$415K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685800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price — well below the county median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656832" y="6281928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DCE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into non-renovated listings here — they’re the majority of homes and meaningfully cheaper.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CE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Recommendations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82880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06654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011680" y="1783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City home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846320" y="17830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zip 98118 — closest high-turnover, affordable zip to downtown. Filter to 1–3 bedrooms.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822960" y="3246120"/>
            <a:ext cx="914400" cy="9144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3483864"/>
            <a:ext cx="438912" cy="4389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011680" y="32004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Country home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4846320" y="320040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zip 98010 or 98014 — genuinely rural and affordable. Lean into non-renovated listings.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22960" y="4663440"/>
            <a:ext cx="914400" cy="914400"/>
          </a:xfrm>
          <a:prstGeom prst="ellipse">
            <a:avLst/>
          </a:prstGeom>
          <a:solidFill>
            <a:srgbClr val="5B4B8A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4901184"/>
            <a:ext cx="438912" cy="43891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011680" y="46177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</a:t>
            </a:r>
            <a:endParaRPr lang="en-US" sz="2000" dirty="0"/>
          </a:p>
        </p:txBody>
      </p:sp>
      <p:sp>
        <p:nvSpPr>
          <p:cNvPr id="14" name="Text 9"/>
          <p:cNvSpPr/>
          <p:nvPr/>
        </p:nvSpPr>
        <p:spPr>
          <a:xfrm>
            <a:off x="4846320" y="461772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in August for the lowest country-home price ($493,725), or May for ~18% more inventory at only a ~9% premium.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84648" y="2103120"/>
            <a:ext cx="1828800" cy="1828800"/>
          </a:xfrm>
          <a:prstGeom prst="ellipse">
            <a:avLst/>
          </a:prstGeom>
          <a:solidFill>
            <a:srgbClr val="27346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0136" y="2578608"/>
            <a:ext cx="877824" cy="8778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4206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31520" y="50292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2026-07-24T14:57:40Z</dcterms:created>
  <dcterms:modified xsi:type="dcterms:W3CDTF">2026-07-24T14:57:40Z</dcterms:modified>
</cp:coreProperties>
</file>