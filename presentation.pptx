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William Rodriguez is buying two properties: For the country home, timing is the priority — he wants to buy at the best possible time, and prefers non-renovated properties. For the city home, the priority is a centrally located zip code where homes turn over often, giving him a faster, more realistic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question behind the analysis: what factors influence the price of homes in King County? We break it into three hypotheses. Then answer each one for William's two searches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working with a full year of King County home sales, just over 21,500 transactions, joined to the county's property detail records so we know the size, condition, location, and renovation history for every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research questions guided the analysis: does a home's location drive its price, does renovation status change what buyers pay, and is there a seasonal pattern that points to a better or worse time to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Homes in the closest quarter of the market to downtown Seattle sell for a median of $346 per square foot, versus $220 for the rest of the county — with a 57 percent premium. Large-lot homes don't sell for less in total, but they are cheaper per square foot, since more of the price is for land rather than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Among large-lot properties, renovated homes have a median price of $712,500 versus $530,000 for non-renovated ones, with a 34 percent premium. Ninety-seven percent of homes countywide have no renovation on record, so non-renovated is the typical listing and the cheaper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country homes, median price is lowest in August and highest in April, while sales volume is lowest in January and peaks in May. City homes follow a different pattern — their median price is lowest in November and highest in March. Since timing matters most for the country home, August is the window we recommend targeting.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city home, 98118 stands out as the strongest option near downtown - with the closest high-turnover ZIP code at 7.9 km away. It has the most sales among affordable central ZIP codes (507 during the period), and has the group's lowest median price at $367,500. ZIP codes 98103, 98115, and 98117 are also solid alternatives. For a two-person household, focusing on one- to three-bedroom homes captures 59% of available listings while avoiding an estimated 41% premium for extra bedrooms that are unlikely to be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country home, zip codes 98010 and 98014 stand out as large-lot areas at 30+ kilometers from downtown, where 68 to 85 percent of homes qualify as large-lot versus a 25 percent countywide, and affordable medians of $360,000 and $415,000. Non-renovated listings are both the norm and the better deal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recommendations: a 1-3 bedroom city home in zip 98118, and a non-renovated country home in zip 98010 or 98014. If timing matters for the country search, August for the lowest price or May for more inventory at a small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full picture — happy to open it up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1554480"/>
            <a:ext cx="8686800" cy="2377440"/>
          </a:xfrm>
          <a:prstGeom prst="rect">
            <a:avLst/>
          </a:prstGeom>
          <a:noFill/>
          <a:ln/>
        </p:spPr>
        <p:txBody>
          <a:bodyPr wrap="square" lIns="0" tIns="0" rIns="0" bIns="0" rtlCol="0" anchor="ctr"/>
          <a:lstStyle/>
          <a:p>
            <a:pPr algn="l" indent="0" marL="0">
              <a:lnSpc>
                <a:spcPct val="105000"/>
              </a:lnSpc>
              <a:buNone/>
            </a:pPr>
            <a:r>
              <a:rPr lang="en-US" sz="5400" b="1" dirty="0">
                <a:solidFill>
                  <a:srgbClr val="FFFFFF"/>
                </a:solidFill>
                <a:latin typeface="Cambria" pitchFamily="34" charset="0"/>
                <a:ea typeface="Cambria" pitchFamily="34" charset="-122"/>
                <a:cs typeface="Cambria" pitchFamily="34" charset="-120"/>
              </a:rPr>
              <a:t>Two Homes,</a:t>
            </a:r>
            <a:endParaRPr lang="en-US" sz="5400" dirty="0"/>
          </a:p>
          <a:p>
            <a:pPr algn="l" indent="0" marL="0">
              <a:lnSpc>
                <a:spcPct val="105000"/>
              </a:lnSpc>
              <a:buNone/>
            </a:pPr>
            <a:r>
              <a:rPr lang="en-US" sz="5400" b="1" dirty="0">
                <a:solidFill>
                  <a:srgbClr val="FFFFFF"/>
                </a:solidFill>
                <a:latin typeface="Cambria" pitchFamily="34" charset="0"/>
                <a:ea typeface="Cambria" pitchFamily="34" charset="-122"/>
                <a:cs typeface="Cambria" pitchFamily="34" charset="-120"/>
              </a:rPr>
              <a:t>One County</a:t>
            </a:r>
            <a:endParaRPr lang="en-US" sz="5400" dirty="0"/>
          </a:p>
        </p:txBody>
      </p:sp>
      <p:sp>
        <p:nvSpPr>
          <p:cNvPr id="3" name="Text 1"/>
          <p:cNvSpPr/>
          <p:nvPr/>
        </p:nvSpPr>
        <p:spPr>
          <a:xfrm>
            <a:off x="822960" y="3794760"/>
            <a:ext cx="8412480" cy="548640"/>
          </a:xfrm>
          <a:prstGeom prst="rect">
            <a:avLst/>
          </a:prstGeom>
          <a:noFill/>
          <a:ln/>
        </p:spPr>
        <p:txBody>
          <a:bodyPr wrap="square" lIns="0" tIns="0" rIns="0" bIns="0" rtlCol="0" anchor="ctr"/>
          <a:lstStyle/>
          <a:p>
            <a:pPr algn="l" indent="0" marL="0">
              <a:buNone/>
            </a:pPr>
            <a:r>
              <a:rPr lang="en-US" sz="2000" dirty="0">
                <a:solidFill>
                  <a:srgbClr val="CADCFC"/>
                </a:solidFill>
                <a:latin typeface="Calibri" pitchFamily="34" charset="0"/>
                <a:ea typeface="Calibri" pitchFamily="34" charset="-122"/>
                <a:cs typeface="Calibri" pitchFamily="34" charset="-120"/>
              </a:rPr>
              <a:t>A Data-Driven Home Search for William Rodriguez</a:t>
            </a:r>
            <a:endParaRPr lang="en-US" sz="2000" dirty="0"/>
          </a:p>
        </p:txBody>
      </p:sp>
      <p:sp>
        <p:nvSpPr>
          <p:cNvPr id="4" name="Text 2"/>
          <p:cNvSpPr/>
          <p:nvPr/>
        </p:nvSpPr>
        <p:spPr>
          <a:xfrm>
            <a:off x="822960" y="6126480"/>
            <a:ext cx="9144000" cy="457200"/>
          </a:xfrm>
          <a:prstGeom prst="rect">
            <a:avLst/>
          </a:prstGeom>
          <a:noFill/>
          <a:ln/>
        </p:spPr>
        <p:txBody>
          <a:bodyPr wrap="square" lIns="0" tIns="0" rIns="0" bIns="0" rtlCol="0" anchor="ctr"/>
          <a:lstStyle/>
          <a:p>
            <a:pPr algn="l" indent="0" marL="0">
              <a:buNone/>
            </a:pPr>
            <a:r>
              <a:rPr lang="en-US" sz="1300" dirty="0">
                <a:solidFill>
                  <a:srgbClr val="CADCFC"/>
                </a:solidFill>
                <a:latin typeface="Calibri" pitchFamily="34" charset="0"/>
                <a:ea typeface="Calibri" pitchFamily="34" charset="-122"/>
                <a:cs typeface="Calibri" pitchFamily="34" charset="-120"/>
              </a:rPr>
              <a:t>King County Housing Market Analysis   ·   Sales from May 2014 – May 2015</a:t>
            </a:r>
            <a:endParaRPr lang="en-US" sz="1300" dirty="0"/>
          </a:p>
        </p:txBody>
      </p:sp>
      <p:sp>
        <p:nvSpPr>
          <p:cNvPr id="5" name="Shape 3"/>
          <p:cNvSpPr/>
          <p:nvPr/>
        </p:nvSpPr>
        <p:spPr>
          <a:xfrm>
            <a:off x="9966960" y="2377440"/>
            <a:ext cx="1737360" cy="1737360"/>
          </a:xfrm>
          <a:prstGeom prst="ellipse">
            <a:avLst/>
          </a:prstGeom>
          <a:solidFill>
            <a:srgbClr val="27346E"/>
          </a:solidFill>
          <a:ln/>
        </p:spPr>
      </p:sp>
      <p:pic>
        <p:nvPicPr>
          <p:cNvPr id="6" name="Image 0" descr="preencoded.png">    </p:cNvPr>
          <p:cNvPicPr>
            <a:picLocks noChangeAspect="1"/>
          </p:cNvPicPr>
          <p:nvPr/>
        </p:nvPicPr>
        <p:blipFill>
          <a:blip r:embed="rId1"/>
          <a:stretch>
            <a:fillRect/>
          </a:stretch>
        </p:blipFill>
        <p:spPr>
          <a:xfrm>
            <a:off x="10418674" y="2829154"/>
            <a:ext cx="833933" cy="833933"/>
          </a:xfrm>
          <a:prstGeom prst="rect">
            <a:avLst/>
          </a:prstGeom>
        </p:spPr>
      </p:pic>
      <p:sp>
        <p:nvSpPr>
          <p:cNvPr id="7" name="Text 4"/>
          <p:cNvSpPr/>
          <p:nvPr/>
        </p:nvSpPr>
        <p:spPr>
          <a:xfrm>
            <a:off x="11292840" y="6510528"/>
            <a:ext cx="77724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 / 12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365760"/>
          </a:xfrm>
          <a:prstGeom prst="rect">
            <a:avLst/>
          </a:prstGeom>
          <a:noFill/>
          <a:ln/>
        </p:spPr>
        <p:txBody>
          <a:bodyPr wrap="square" lIns="0" tIns="0" rIns="0" bIns="0" rtlCol="0" anchor="ctr"/>
          <a:lstStyle/>
          <a:p>
            <a:pPr indent="0" marL="0">
              <a:buNone/>
            </a:pPr>
            <a:r>
              <a:rPr lang="en-US" sz="1400" dirty="0">
                <a:solidFill>
                  <a:srgbClr val="6B6B6B"/>
                </a:solidFill>
                <a:latin typeface="Calibri" pitchFamily="34" charset="0"/>
                <a:ea typeface="Calibri" pitchFamily="34" charset="-122"/>
                <a:cs typeface="Calibri" pitchFamily="34" charset="-120"/>
              </a:rPr>
              <a:t>William Rodriguez  —  buyer, household of 2</a:t>
            </a:r>
            <a:endParaRPr lang="en-US" sz="1400" dirty="0"/>
          </a:p>
        </p:txBody>
      </p:sp>
      <p:sp>
        <p:nvSpPr>
          <p:cNvPr id="3" name="Text 1"/>
          <p:cNvSpPr/>
          <p:nvPr/>
        </p:nvSpPr>
        <p:spPr>
          <a:xfrm>
            <a:off x="640080" y="777240"/>
            <a:ext cx="10881360" cy="822960"/>
          </a:xfrm>
          <a:prstGeom prst="rect">
            <a:avLst/>
          </a:prstGeom>
          <a:noFill/>
          <a:ln/>
        </p:spPr>
        <p:txBody>
          <a:bodyPr wrap="square" lIns="0" tIns="0" rIns="0" bIns="0"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Meet the Client</a:t>
            </a:r>
            <a:endParaRPr lang="en-US" sz="3800" dirty="0"/>
          </a:p>
        </p:txBody>
      </p:sp>
      <p:sp>
        <p:nvSpPr>
          <p:cNvPr id="4" name="Shape 2"/>
          <p:cNvSpPr/>
          <p:nvPr/>
        </p:nvSpPr>
        <p:spPr>
          <a:xfrm>
            <a:off x="640080" y="1920240"/>
            <a:ext cx="5212080" cy="4206240"/>
          </a:xfrm>
          <a:prstGeom prst="roundRect">
            <a:avLst>
              <a:gd name="adj" fmla="val 2609"/>
            </a:avLst>
          </a:prstGeom>
          <a:solidFill>
            <a:srgbClr val="DCEEF2"/>
          </a:solidFill>
          <a:ln/>
          <a:effectLst>
            <a:outerShdw sx="100000" sy="100000" kx="0" ky="0" algn="bl" rotWithShape="0" blurRad="76200" dist="25400" dir="5400000">
              <a:srgbClr val="000000">
                <a:alpha val="15000"/>
              </a:srgbClr>
            </a:outerShdw>
          </a:effectLst>
        </p:spPr>
      </p:sp>
      <p:sp>
        <p:nvSpPr>
          <p:cNvPr id="5" name="Shape 3"/>
          <p:cNvSpPr/>
          <p:nvPr/>
        </p:nvSpPr>
        <p:spPr>
          <a:xfrm>
            <a:off x="1051560" y="2331720"/>
            <a:ext cx="1005840" cy="1005840"/>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1313078" y="2593238"/>
            <a:ext cx="482803" cy="482803"/>
          </a:xfrm>
          <a:prstGeom prst="rect">
            <a:avLst/>
          </a:prstGeom>
        </p:spPr>
      </p:pic>
      <p:sp>
        <p:nvSpPr>
          <p:cNvPr id="7" name="Text 4"/>
          <p:cNvSpPr/>
          <p:nvPr/>
        </p:nvSpPr>
        <p:spPr>
          <a:xfrm>
            <a:off x="2240280" y="2377440"/>
            <a:ext cx="3383280" cy="64008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City Home</a:t>
            </a:r>
            <a:endParaRPr lang="en-US" sz="2400" dirty="0"/>
          </a:p>
        </p:txBody>
      </p:sp>
      <p:sp>
        <p:nvSpPr>
          <p:cNvPr id="8" name="Text 5"/>
          <p:cNvSpPr/>
          <p:nvPr/>
        </p:nvSpPr>
        <p:spPr>
          <a:xfrm>
            <a:off x="1051560" y="3657600"/>
            <a:ext cx="4297680" cy="2194560"/>
          </a:xfrm>
          <a:prstGeom prst="rect">
            <a:avLst/>
          </a:prstGeom>
          <a:noFill/>
          <a:ln/>
        </p:spPr>
        <p:txBody>
          <a:bodyPr wrap="square" lIns="0" tIns="0" rIns="0" bIns="0" rtlCol="0" anchor="ctr"/>
          <a:lstStyle/>
          <a:p>
            <a:pPr marL="342900" indent="-342900">
              <a:spcAft>
                <a:spcPts val="1400"/>
              </a:spcAft>
              <a:buSzPct val="100000"/>
              <a:buChar char="•"/>
            </a:pPr>
            <a:r>
              <a:rPr lang="en-US" sz="1700" dirty="0">
                <a:solidFill>
                  <a:srgbClr val="262626"/>
                </a:solidFill>
                <a:latin typeface="Calibri" pitchFamily="34" charset="0"/>
                <a:ea typeface="Calibri" pitchFamily="34" charset="-122"/>
                <a:cs typeface="Calibri" pitchFamily="34" charset="-120"/>
              </a:rPr>
              <a:t>Needs to move fast</a:t>
            </a:r>
            <a:endParaRPr lang="en-US" sz="1700" dirty="0"/>
          </a:p>
          <a:p>
            <a:pPr marL="342900" indent="-342900">
              <a:spcAft>
                <a:spcPts val="1400"/>
              </a:spcAft>
              <a:buSzPct val="100000"/>
              <a:buChar char="•"/>
            </a:pPr>
            <a:r>
              <a:rPr lang="en-US" sz="1700" dirty="0">
                <a:solidFill>
                  <a:srgbClr val="262626"/>
                </a:solidFill>
                <a:latin typeface="Calibri" pitchFamily="34" charset="0"/>
                <a:ea typeface="Calibri" pitchFamily="34" charset="-122"/>
                <a:cs typeface="Calibri" pitchFamily="34" charset="-120"/>
              </a:rPr>
              <a:t>Wants a central location</a:t>
            </a:r>
            <a:endParaRPr lang="en-US" sz="1700" dirty="0"/>
          </a:p>
        </p:txBody>
      </p:sp>
      <p:sp>
        <p:nvSpPr>
          <p:cNvPr id="9" name="Shape 6"/>
          <p:cNvSpPr/>
          <p:nvPr/>
        </p:nvSpPr>
        <p:spPr>
          <a:xfrm>
            <a:off x="6336792" y="1920240"/>
            <a:ext cx="5212080" cy="4206240"/>
          </a:xfrm>
          <a:prstGeom prst="roundRect">
            <a:avLst>
              <a:gd name="adj" fmla="val 2609"/>
            </a:avLst>
          </a:prstGeom>
          <a:solidFill>
            <a:srgbClr val="E1EBDA"/>
          </a:solidFill>
          <a:ln/>
          <a:effectLst>
            <a:outerShdw sx="100000" sy="100000" kx="0" ky="0" algn="bl" rotWithShape="0" blurRad="76200" dist="25400" dir="5400000">
              <a:srgbClr val="000000">
                <a:alpha val="15000"/>
              </a:srgbClr>
            </a:outerShdw>
          </a:effectLst>
        </p:spPr>
      </p:sp>
      <p:sp>
        <p:nvSpPr>
          <p:cNvPr id="10" name="Shape 7"/>
          <p:cNvSpPr/>
          <p:nvPr/>
        </p:nvSpPr>
        <p:spPr>
          <a:xfrm>
            <a:off x="6748272" y="2331720"/>
            <a:ext cx="1005840" cy="1005840"/>
          </a:xfrm>
          <a:prstGeom prst="ellipse">
            <a:avLst/>
          </a:prstGeom>
          <a:solidFill>
            <a:srgbClr val="2C5F2D"/>
          </a:solidFill>
          <a:ln/>
        </p:spPr>
      </p:sp>
      <p:pic>
        <p:nvPicPr>
          <p:cNvPr id="11" name="Image 1" descr="preencoded.png">    </p:cNvPr>
          <p:cNvPicPr>
            <a:picLocks noChangeAspect="1"/>
          </p:cNvPicPr>
          <p:nvPr/>
        </p:nvPicPr>
        <p:blipFill>
          <a:blip r:embed="rId2"/>
          <a:stretch>
            <a:fillRect/>
          </a:stretch>
        </p:blipFill>
        <p:spPr>
          <a:xfrm>
            <a:off x="7009790" y="2593238"/>
            <a:ext cx="482803" cy="482803"/>
          </a:xfrm>
          <a:prstGeom prst="rect">
            <a:avLst/>
          </a:prstGeom>
        </p:spPr>
      </p:pic>
      <p:sp>
        <p:nvSpPr>
          <p:cNvPr id="12" name="Text 8"/>
          <p:cNvSpPr/>
          <p:nvPr/>
        </p:nvSpPr>
        <p:spPr>
          <a:xfrm>
            <a:off x="7936992" y="2377440"/>
            <a:ext cx="3383280" cy="64008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Country Home</a:t>
            </a:r>
            <a:endParaRPr lang="en-US" sz="2400" dirty="0"/>
          </a:p>
        </p:txBody>
      </p:sp>
      <p:sp>
        <p:nvSpPr>
          <p:cNvPr id="13" name="Text 9"/>
          <p:cNvSpPr/>
          <p:nvPr/>
        </p:nvSpPr>
        <p:spPr>
          <a:xfrm>
            <a:off x="6748272" y="3657600"/>
            <a:ext cx="4480560" cy="2194560"/>
          </a:xfrm>
          <a:prstGeom prst="rect">
            <a:avLst/>
          </a:prstGeom>
          <a:noFill/>
          <a:ln/>
        </p:spPr>
        <p:txBody>
          <a:bodyPr wrap="square" lIns="0" tIns="0" rIns="0" bIns="0" rtlCol="0" anchor="ctr"/>
          <a:lstStyle/>
          <a:p>
            <a:pPr marL="342900" indent="-342900">
              <a:spcAft>
                <a:spcPts val="1400"/>
              </a:spcAft>
              <a:buSzPct val="100000"/>
              <a:buChar char="•"/>
            </a:pPr>
            <a:r>
              <a:rPr lang="en-US" sz="1700" dirty="0">
                <a:solidFill>
                  <a:srgbClr val="262626"/>
                </a:solidFill>
                <a:latin typeface="Calibri" pitchFamily="34" charset="0"/>
                <a:ea typeface="Calibri" pitchFamily="34" charset="-122"/>
                <a:cs typeface="Calibri" pitchFamily="34" charset="-120"/>
              </a:rPr>
              <a:t>Best possible timing to buy</a:t>
            </a:r>
            <a:endParaRPr lang="en-US" sz="1700" dirty="0"/>
          </a:p>
          <a:p>
            <a:pPr marL="342900" indent="-342900">
              <a:spcAft>
                <a:spcPts val="1400"/>
              </a:spcAft>
              <a:buSzPct val="100000"/>
              <a:buChar char="•"/>
            </a:pPr>
            <a:r>
              <a:rPr lang="en-US" sz="1700" dirty="0">
                <a:solidFill>
                  <a:srgbClr val="262626"/>
                </a:solidFill>
                <a:latin typeface="Calibri" pitchFamily="34" charset="0"/>
                <a:ea typeface="Calibri" pitchFamily="34" charset="-122"/>
                <a:cs typeface="Calibri" pitchFamily="34" charset="-120"/>
              </a:rPr>
              <a:t>Prefers non-renovated homes</a:t>
            </a:r>
            <a:endParaRPr lang="en-US" sz="1700" dirty="0"/>
          </a:p>
        </p:txBody>
      </p:sp>
      <p:sp>
        <p:nvSpPr>
          <p:cNvPr id="15" name="Text 10"/>
          <p:cNvSpPr/>
          <p:nvPr/>
        </p:nvSpPr>
        <p:spPr>
          <a:xfrm>
            <a:off x="11292840" y="6510528"/>
            <a:ext cx="7772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2 /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1828800"/>
            <a:ext cx="10515600" cy="457200"/>
          </a:xfrm>
          <a:prstGeom prst="rect">
            <a:avLst/>
          </a:prstGeom>
          <a:noFill/>
          <a:ln/>
        </p:spPr>
        <p:txBody>
          <a:bodyPr wrap="square" lIns="0" tIns="0" rIns="0" bIns="0" rtlCol="0" anchor="ctr"/>
          <a:lstStyle/>
          <a:p>
            <a:pPr indent="0" marL="0">
              <a:buNone/>
            </a:pPr>
            <a:r>
              <a:rPr lang="en-US" sz="1500" b="1" spc="200" kern="0" dirty="0">
                <a:solidFill>
                  <a:srgbClr val="8FA3E0"/>
                </a:solidFill>
                <a:latin typeface="Calibri" pitchFamily="34" charset="0"/>
                <a:ea typeface="Calibri" pitchFamily="34" charset="-122"/>
                <a:cs typeface="Calibri" pitchFamily="34" charset="-120"/>
              </a:rPr>
              <a:t>BUSINESS QUESTION</a:t>
            </a:r>
            <a:endParaRPr lang="en-US" sz="1500" dirty="0"/>
          </a:p>
        </p:txBody>
      </p:sp>
      <p:sp>
        <p:nvSpPr>
          <p:cNvPr id="3" name="Text 1"/>
          <p:cNvSpPr/>
          <p:nvPr/>
        </p:nvSpPr>
        <p:spPr>
          <a:xfrm>
            <a:off x="822960" y="2331720"/>
            <a:ext cx="10515600" cy="1828800"/>
          </a:xfrm>
          <a:prstGeom prst="rect">
            <a:avLst/>
          </a:prstGeom>
          <a:noFill/>
          <a:ln/>
        </p:spPr>
        <p:txBody>
          <a:bodyPr wrap="square" lIns="0" tIns="0" rIns="0" bIns="0" rtlCol="0" anchor="ctr"/>
          <a:lstStyle/>
          <a:p>
            <a:pPr indent="0" marL="0">
              <a:lnSpc>
                <a:spcPct val="110000"/>
              </a:lnSpc>
              <a:buNone/>
            </a:pPr>
            <a:r>
              <a:rPr lang="en-US" sz="4000" b="1" dirty="0">
                <a:solidFill>
                  <a:srgbClr val="FFFFFF"/>
                </a:solidFill>
                <a:latin typeface="Cambria" pitchFamily="34" charset="0"/>
                <a:ea typeface="Cambria" pitchFamily="34" charset="-122"/>
                <a:cs typeface="Cambria" pitchFamily="34" charset="-120"/>
              </a:rPr>
              <a:t>What factors influence the price of homes in King County?</a:t>
            </a:r>
            <a:endParaRPr lang="en-US" sz="4000" dirty="0"/>
          </a:p>
        </p:txBody>
      </p:sp>
      <p:sp>
        <p:nvSpPr>
          <p:cNvPr id="4" name="Text 2"/>
          <p:cNvSpPr/>
          <p:nvPr/>
        </p:nvSpPr>
        <p:spPr>
          <a:xfrm>
            <a:off x="822960" y="4480560"/>
            <a:ext cx="9418320" cy="914400"/>
          </a:xfrm>
          <a:prstGeom prst="rect">
            <a:avLst/>
          </a:prstGeom>
          <a:noFill/>
          <a:ln/>
        </p:spPr>
        <p:txBody>
          <a:bodyPr wrap="square" lIns="0" tIns="0" rIns="0" bIns="0"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Every finding and recommendation in this deck traces back to this one question — answered specifically for William's two searches.</a:t>
            </a:r>
            <a:endParaRPr lang="en-US" sz="1600" dirty="0"/>
          </a:p>
        </p:txBody>
      </p:sp>
      <p:sp>
        <p:nvSpPr>
          <p:cNvPr id="5" name="Shape 3"/>
          <p:cNvSpPr/>
          <p:nvPr/>
        </p:nvSpPr>
        <p:spPr>
          <a:xfrm>
            <a:off x="10058400" y="5394960"/>
            <a:ext cx="1188720" cy="1188720"/>
          </a:xfrm>
          <a:prstGeom prst="ellipse">
            <a:avLst/>
          </a:prstGeom>
          <a:solidFill>
            <a:srgbClr val="27346E"/>
          </a:solidFill>
          <a:ln/>
        </p:spPr>
      </p:sp>
      <p:pic>
        <p:nvPicPr>
          <p:cNvPr id="6" name="Image 0" descr="preencoded.png">    </p:cNvPr>
          <p:cNvPicPr>
            <a:picLocks noChangeAspect="1"/>
          </p:cNvPicPr>
          <p:nvPr/>
        </p:nvPicPr>
        <p:blipFill>
          <a:blip r:embed="rId1"/>
          <a:stretch>
            <a:fillRect/>
          </a:stretch>
        </p:blipFill>
        <p:spPr>
          <a:xfrm>
            <a:off x="10367467" y="5704027"/>
            <a:ext cx="570586" cy="570586"/>
          </a:xfrm>
          <a:prstGeom prst="rect">
            <a:avLst/>
          </a:prstGeom>
        </p:spPr>
      </p:pic>
      <p:sp>
        <p:nvSpPr>
          <p:cNvPr id="8" name="Text 4"/>
          <p:cNvSpPr/>
          <p:nvPr/>
        </p:nvSpPr>
        <p:spPr>
          <a:xfrm>
            <a:off x="11292840" y="6510528"/>
            <a:ext cx="77724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3 /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822960" cy="822960"/>
          </a:xfrm>
          <a:prstGeom prst="ellipse">
            <a:avLst/>
          </a:prstGeom>
          <a:solidFill>
            <a:srgbClr val="1E2761"/>
          </a:solidFill>
          <a:ln/>
        </p:spPr>
      </p:sp>
      <p:pic>
        <p:nvPicPr>
          <p:cNvPr id="3" name="Image 0" descr="preencoded.png">    </p:cNvPr>
          <p:cNvPicPr>
            <a:picLocks noChangeAspect="1"/>
          </p:cNvPicPr>
          <p:nvPr/>
        </p:nvPicPr>
        <p:blipFill>
          <a:blip r:embed="rId1"/>
          <a:stretch>
            <a:fillRect/>
          </a:stretch>
        </p:blipFill>
        <p:spPr>
          <a:xfrm>
            <a:off x="854050" y="716890"/>
            <a:ext cx="395021" cy="395021"/>
          </a:xfrm>
          <a:prstGeom prst="rect">
            <a:avLst/>
          </a:prstGeom>
        </p:spPr>
      </p:pic>
      <p:sp>
        <p:nvSpPr>
          <p:cNvPr id="4" name="Text 1"/>
          <p:cNvSpPr/>
          <p:nvPr/>
        </p:nvSpPr>
        <p:spPr>
          <a:xfrm>
            <a:off x="1691640" y="502920"/>
            <a:ext cx="9144000" cy="822960"/>
          </a:xfrm>
          <a:prstGeom prst="rect">
            <a:avLst/>
          </a:prstGeom>
          <a:noFill/>
          <a:ln/>
        </p:spPr>
        <p:txBody>
          <a:bodyPr wrap="square" lIns="0" tIns="0" rIns="0" bIns="0" rtlCol="0" anchor="ctr"/>
          <a:lstStyle/>
          <a:p>
            <a:pPr indent="0" marL="0">
              <a:buNone/>
            </a:pPr>
            <a:r>
              <a:rPr lang="en-US" sz="3800" b="1" dirty="0">
                <a:solidFill>
                  <a:srgbClr val="1E2761"/>
                </a:solidFill>
                <a:latin typeface="Cambria" pitchFamily="34" charset="0"/>
                <a:ea typeface="Cambria" pitchFamily="34" charset="-122"/>
                <a:cs typeface="Cambria" pitchFamily="34" charset="-120"/>
              </a:rPr>
              <a:t>What We Looked At</a:t>
            </a:r>
            <a:endParaRPr lang="en-US" sz="3800" dirty="0"/>
          </a:p>
        </p:txBody>
      </p:sp>
      <p:sp>
        <p:nvSpPr>
          <p:cNvPr id="5" name="Text 2"/>
          <p:cNvSpPr/>
          <p:nvPr/>
        </p:nvSpPr>
        <p:spPr>
          <a:xfrm>
            <a:off x="822960" y="2743200"/>
            <a:ext cx="3291840" cy="77724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21,597</a:t>
            </a:r>
            <a:endParaRPr lang="en-US" sz="4000" dirty="0"/>
          </a:p>
        </p:txBody>
      </p:sp>
      <p:sp>
        <p:nvSpPr>
          <p:cNvPr id="6" name="Text 3"/>
          <p:cNvSpPr/>
          <p:nvPr/>
        </p:nvSpPr>
        <p:spPr>
          <a:xfrm>
            <a:off x="822960" y="3474720"/>
            <a:ext cx="3291840" cy="502920"/>
          </a:xfrm>
          <a:prstGeom prst="rect">
            <a:avLst/>
          </a:prstGeom>
          <a:noFill/>
          <a:ln/>
        </p:spPr>
        <p:txBody>
          <a:bodyPr wrap="square" lIns="0" tIns="0" rIns="0" bIns="0" rtlCol="0" anchor="ctr"/>
          <a:lstStyle/>
          <a:p>
            <a:pPr algn="ctr" indent="0" marL="0">
              <a:buNone/>
            </a:pPr>
            <a:r>
              <a:rPr lang="en-US" sz="1300" dirty="0">
                <a:solidFill>
                  <a:srgbClr val="6B6B6B"/>
                </a:solidFill>
                <a:latin typeface="Calibri" pitchFamily="34" charset="0"/>
                <a:ea typeface="Calibri" pitchFamily="34" charset="-122"/>
                <a:cs typeface="Calibri" pitchFamily="34" charset="-120"/>
              </a:rPr>
              <a:t>home sales analyzed</a:t>
            </a:r>
            <a:endParaRPr lang="en-US" sz="1300" dirty="0"/>
          </a:p>
        </p:txBody>
      </p:sp>
      <p:sp>
        <p:nvSpPr>
          <p:cNvPr id="7" name="Text 4"/>
          <p:cNvSpPr/>
          <p:nvPr/>
        </p:nvSpPr>
        <p:spPr>
          <a:xfrm>
            <a:off x="4434840" y="2743200"/>
            <a:ext cx="3291840" cy="777240"/>
          </a:xfrm>
          <a:prstGeom prst="rect">
            <a:avLst/>
          </a:prstGeom>
          <a:noFill/>
          <a:ln/>
        </p:spPr>
        <p:txBody>
          <a:bodyPr wrap="square" lIns="0" tIns="0" rIns="0" bIns="0" rtlCol="0" anchor="ctr"/>
          <a:lstStyle/>
          <a:p>
            <a:pPr algn="ctr" indent="0" marL="0">
              <a:buNone/>
            </a:pPr>
            <a:r>
              <a:rPr lang="en-US" sz="4000" b="1" dirty="0">
                <a:solidFill>
                  <a:srgbClr val="1C7293"/>
                </a:solidFill>
                <a:latin typeface="Cambria" pitchFamily="34" charset="0"/>
                <a:ea typeface="Cambria" pitchFamily="34" charset="-122"/>
                <a:cs typeface="Cambria" pitchFamily="34" charset="-120"/>
              </a:rPr>
              <a:t>12 months</a:t>
            </a:r>
            <a:endParaRPr lang="en-US" sz="4000" dirty="0"/>
          </a:p>
        </p:txBody>
      </p:sp>
      <p:sp>
        <p:nvSpPr>
          <p:cNvPr id="8" name="Text 5"/>
          <p:cNvSpPr/>
          <p:nvPr/>
        </p:nvSpPr>
        <p:spPr>
          <a:xfrm>
            <a:off x="4434840" y="3474720"/>
            <a:ext cx="3291840" cy="502920"/>
          </a:xfrm>
          <a:prstGeom prst="rect">
            <a:avLst/>
          </a:prstGeom>
          <a:noFill/>
          <a:ln/>
        </p:spPr>
        <p:txBody>
          <a:bodyPr wrap="square" lIns="0" tIns="0" rIns="0" bIns="0" rtlCol="0" anchor="ctr"/>
          <a:lstStyle/>
          <a:p>
            <a:pPr algn="ctr" indent="0" marL="0">
              <a:buNone/>
            </a:pPr>
            <a:r>
              <a:rPr lang="en-US" sz="1300" dirty="0">
                <a:solidFill>
                  <a:srgbClr val="6B6B6B"/>
                </a:solidFill>
                <a:latin typeface="Calibri" pitchFamily="34" charset="0"/>
                <a:ea typeface="Calibri" pitchFamily="34" charset="-122"/>
                <a:cs typeface="Calibri" pitchFamily="34" charset="-120"/>
              </a:rPr>
              <a:t>May 2014 – May 2015</a:t>
            </a:r>
            <a:endParaRPr lang="en-US" sz="1300" dirty="0"/>
          </a:p>
        </p:txBody>
      </p:sp>
      <p:sp>
        <p:nvSpPr>
          <p:cNvPr id="9" name="Text 6"/>
          <p:cNvSpPr/>
          <p:nvPr/>
        </p:nvSpPr>
        <p:spPr>
          <a:xfrm>
            <a:off x="8046720" y="2743200"/>
            <a:ext cx="3291840" cy="777240"/>
          </a:xfrm>
          <a:prstGeom prst="rect">
            <a:avLst/>
          </a:prstGeom>
          <a:noFill/>
          <a:ln/>
        </p:spPr>
        <p:txBody>
          <a:bodyPr wrap="square" lIns="0" tIns="0" rIns="0" bIns="0" rtlCol="0" anchor="ctr"/>
          <a:lstStyle/>
          <a:p>
            <a:pPr algn="ctr" indent="0" marL="0">
              <a:buNone/>
            </a:pPr>
            <a:r>
              <a:rPr lang="en-US" sz="4000" b="1" dirty="0">
                <a:solidFill>
                  <a:srgbClr val="1E2761"/>
                </a:solidFill>
                <a:latin typeface="Cambria" pitchFamily="34" charset="0"/>
                <a:ea typeface="Cambria" pitchFamily="34" charset="-122"/>
                <a:cs typeface="Cambria" pitchFamily="34" charset="-120"/>
              </a:rPr>
              <a:t>King County</a:t>
            </a:r>
            <a:endParaRPr lang="en-US" sz="4000" dirty="0"/>
          </a:p>
        </p:txBody>
      </p:sp>
      <p:sp>
        <p:nvSpPr>
          <p:cNvPr id="10" name="Text 7"/>
          <p:cNvSpPr/>
          <p:nvPr/>
        </p:nvSpPr>
        <p:spPr>
          <a:xfrm>
            <a:off x="8046720" y="3474720"/>
            <a:ext cx="3291840" cy="502920"/>
          </a:xfrm>
          <a:prstGeom prst="rect">
            <a:avLst/>
          </a:prstGeom>
          <a:noFill/>
          <a:ln/>
        </p:spPr>
        <p:txBody>
          <a:bodyPr wrap="square" lIns="0" tIns="0" rIns="0" bIns="0" rtlCol="0" anchor="ctr"/>
          <a:lstStyle/>
          <a:p>
            <a:pPr algn="ctr" indent="0" marL="0">
              <a:buNone/>
            </a:pPr>
            <a:r>
              <a:rPr lang="en-US" sz="1300" dirty="0">
                <a:solidFill>
                  <a:srgbClr val="6B6B6B"/>
                </a:solidFill>
                <a:latin typeface="Calibri" pitchFamily="34" charset="0"/>
                <a:ea typeface="Calibri" pitchFamily="34" charset="-122"/>
                <a:cs typeface="Calibri" pitchFamily="34" charset="-120"/>
              </a:rPr>
              <a:t>Seattle &amp; surrounding area</a:t>
            </a:r>
            <a:endParaRPr lang="en-US" sz="1300" dirty="0"/>
          </a:p>
        </p:txBody>
      </p:sp>
      <p:sp>
        <p:nvSpPr>
          <p:cNvPr id="11" name="Text 8"/>
          <p:cNvSpPr/>
          <p:nvPr/>
        </p:nvSpPr>
        <p:spPr>
          <a:xfrm>
            <a:off x="1280160" y="5212080"/>
            <a:ext cx="9601200" cy="822960"/>
          </a:xfrm>
          <a:prstGeom prst="rect">
            <a:avLst/>
          </a:prstGeom>
          <a:noFill/>
          <a:ln/>
        </p:spPr>
        <p:txBody>
          <a:bodyPr wrap="square" lIns="0" tIns="0" rIns="0" bIns="0" rtlCol="0" anchor="ctr"/>
          <a:lstStyle/>
          <a:p>
            <a:pPr algn="ctr" indent="0" marL="0">
              <a:buNone/>
            </a:pPr>
            <a:r>
              <a:rPr lang="en-US" sz="1500" dirty="0">
                <a:solidFill>
                  <a:srgbClr val="6B6B6B"/>
                </a:solidFill>
                <a:latin typeface="Calibri" pitchFamily="34" charset="0"/>
                <a:ea typeface="Calibri" pitchFamily="34" charset="-122"/>
                <a:cs typeface="Calibri" pitchFamily="34" charset="-120"/>
              </a:rPr>
              <a:t>Sale records were joined against county property details — size, condition, location, and renovation history — for every transaction in the window.</a:t>
            </a:r>
            <a:endParaRPr lang="en-US" sz="1500" dirty="0"/>
          </a:p>
        </p:txBody>
      </p:sp>
      <p:sp>
        <p:nvSpPr>
          <p:cNvPr id="13" name="Text 9"/>
          <p:cNvSpPr/>
          <p:nvPr/>
        </p:nvSpPr>
        <p:spPr>
          <a:xfrm>
            <a:off x="11292840" y="6510528"/>
            <a:ext cx="7772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4 /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640080"/>
            <a:ext cx="1069848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Three Hypotheses Tested</a:t>
            </a:r>
            <a:endParaRPr lang="en-US" sz="3200" dirty="0"/>
          </a:p>
        </p:txBody>
      </p:sp>
      <p:sp>
        <p:nvSpPr>
          <p:cNvPr id="3" name="Shape 1"/>
          <p:cNvSpPr/>
          <p:nvPr/>
        </p:nvSpPr>
        <p:spPr>
          <a:xfrm>
            <a:off x="1097280" y="1965960"/>
            <a:ext cx="914400" cy="914400"/>
          </a:xfrm>
          <a:prstGeom prst="ellipse">
            <a:avLst/>
          </a:prstGeom>
          <a:solidFill>
            <a:srgbClr val="1C7293"/>
          </a:solidFill>
          <a:ln/>
        </p:spPr>
      </p:sp>
      <p:pic>
        <p:nvPicPr>
          <p:cNvPr id="4" name="Image 0" descr="preencoded.png">    </p:cNvPr>
          <p:cNvPicPr>
            <a:picLocks noChangeAspect="1"/>
          </p:cNvPicPr>
          <p:nvPr/>
        </p:nvPicPr>
        <p:blipFill>
          <a:blip r:embed="rId1"/>
          <a:stretch>
            <a:fillRect/>
          </a:stretch>
        </p:blipFill>
        <p:spPr>
          <a:xfrm>
            <a:off x="1335024" y="2203704"/>
            <a:ext cx="438912" cy="438912"/>
          </a:xfrm>
          <a:prstGeom prst="rect">
            <a:avLst/>
          </a:prstGeom>
        </p:spPr>
      </p:pic>
      <p:sp>
        <p:nvSpPr>
          <p:cNvPr id="5" name="Text 2"/>
          <p:cNvSpPr/>
          <p:nvPr/>
        </p:nvSpPr>
        <p:spPr>
          <a:xfrm>
            <a:off x="2331720" y="2103120"/>
            <a:ext cx="8229600" cy="685800"/>
          </a:xfrm>
          <a:prstGeom prst="rect">
            <a:avLst/>
          </a:prstGeom>
          <a:noFill/>
          <a:ln/>
        </p:spPr>
        <p:txBody>
          <a:bodyPr wrap="square" lIns="0" tIns="0" rIns="0" bIns="0" rtlCol="0" anchor="ctr"/>
          <a:lstStyle/>
          <a:p>
            <a:pPr indent="0" marL="0">
              <a:buNone/>
            </a:pPr>
            <a:r>
              <a:rPr lang="en-US" sz="2400" b="1" dirty="0">
                <a:solidFill>
                  <a:srgbClr val="8FA3E0"/>
                </a:solidFill>
                <a:latin typeface="Calibri" pitchFamily="34" charset="0"/>
                <a:ea typeface="Calibri" pitchFamily="34" charset="-122"/>
                <a:cs typeface="Calibri" pitchFamily="34" charset="-120"/>
              </a:rPr>
              <a:t>Hypothesis 1  —  </a:t>
            </a:r>
            <a:pPr indent="0" marL="0">
              <a:buNone/>
            </a:pPr>
            <a:r>
              <a:rPr lang="en-US" sz="2400" dirty="0">
                <a:solidFill>
                  <a:srgbClr val="FFFFFF"/>
                </a:solidFill>
                <a:latin typeface="Calibri" pitchFamily="34" charset="0"/>
                <a:ea typeface="Calibri" pitchFamily="34" charset="-122"/>
                <a:cs typeface="Calibri" pitchFamily="34" charset="-120"/>
              </a:rPr>
              <a:t>Does location drive price?</a:t>
            </a:r>
            <a:endParaRPr lang="en-US" sz="2400" dirty="0"/>
          </a:p>
        </p:txBody>
      </p:sp>
      <p:sp>
        <p:nvSpPr>
          <p:cNvPr id="6" name="Shape 3"/>
          <p:cNvSpPr/>
          <p:nvPr/>
        </p:nvSpPr>
        <p:spPr>
          <a:xfrm>
            <a:off x="1097280" y="3383280"/>
            <a:ext cx="914400" cy="914400"/>
          </a:xfrm>
          <a:prstGeom prst="ellipse">
            <a:avLst/>
          </a:prstGeom>
          <a:solidFill>
            <a:srgbClr val="2C5F2D"/>
          </a:solidFill>
          <a:ln/>
        </p:spPr>
      </p:sp>
      <p:pic>
        <p:nvPicPr>
          <p:cNvPr id="7" name="Image 1" descr="preencoded.png">    </p:cNvPr>
          <p:cNvPicPr>
            <a:picLocks noChangeAspect="1"/>
          </p:cNvPicPr>
          <p:nvPr/>
        </p:nvPicPr>
        <p:blipFill>
          <a:blip r:embed="rId2"/>
          <a:stretch>
            <a:fillRect/>
          </a:stretch>
        </p:blipFill>
        <p:spPr>
          <a:xfrm>
            <a:off x="1335024" y="3621024"/>
            <a:ext cx="438912" cy="438912"/>
          </a:xfrm>
          <a:prstGeom prst="rect">
            <a:avLst/>
          </a:prstGeom>
        </p:spPr>
      </p:pic>
      <p:sp>
        <p:nvSpPr>
          <p:cNvPr id="8" name="Text 4"/>
          <p:cNvSpPr/>
          <p:nvPr/>
        </p:nvSpPr>
        <p:spPr>
          <a:xfrm>
            <a:off x="2331720" y="3520440"/>
            <a:ext cx="8229600" cy="685800"/>
          </a:xfrm>
          <a:prstGeom prst="rect">
            <a:avLst/>
          </a:prstGeom>
          <a:noFill/>
          <a:ln/>
        </p:spPr>
        <p:txBody>
          <a:bodyPr wrap="square" lIns="0" tIns="0" rIns="0" bIns="0" rtlCol="0" anchor="ctr"/>
          <a:lstStyle/>
          <a:p>
            <a:pPr indent="0" marL="0">
              <a:buNone/>
            </a:pPr>
            <a:r>
              <a:rPr lang="en-US" sz="2400" b="1" dirty="0">
                <a:solidFill>
                  <a:srgbClr val="8FA3E0"/>
                </a:solidFill>
                <a:latin typeface="Calibri" pitchFamily="34" charset="0"/>
                <a:ea typeface="Calibri" pitchFamily="34" charset="-122"/>
                <a:cs typeface="Calibri" pitchFamily="34" charset="-120"/>
              </a:rPr>
              <a:t>Hypothesis 2  —  </a:t>
            </a:r>
            <a:pPr indent="0" marL="0">
              <a:buNone/>
            </a:pPr>
            <a:r>
              <a:rPr lang="en-US" sz="2400" dirty="0">
                <a:solidFill>
                  <a:srgbClr val="FFFFFF"/>
                </a:solidFill>
                <a:latin typeface="Calibri" pitchFamily="34" charset="0"/>
                <a:ea typeface="Calibri" pitchFamily="34" charset="-122"/>
                <a:cs typeface="Calibri" pitchFamily="34" charset="-120"/>
              </a:rPr>
              <a:t>Does renovation status matter?</a:t>
            </a:r>
            <a:endParaRPr lang="en-US" sz="2400" dirty="0"/>
          </a:p>
        </p:txBody>
      </p:sp>
      <p:sp>
        <p:nvSpPr>
          <p:cNvPr id="9" name="Shape 5"/>
          <p:cNvSpPr/>
          <p:nvPr/>
        </p:nvSpPr>
        <p:spPr>
          <a:xfrm>
            <a:off x="1097280" y="4800600"/>
            <a:ext cx="914400" cy="914400"/>
          </a:xfrm>
          <a:prstGeom prst="ellipse">
            <a:avLst/>
          </a:prstGeom>
          <a:solidFill>
            <a:srgbClr val="5B4B8A"/>
          </a:solidFill>
          <a:ln/>
        </p:spPr>
      </p:sp>
      <p:pic>
        <p:nvPicPr>
          <p:cNvPr id="10" name="Image 2" descr="preencoded.png">    </p:cNvPr>
          <p:cNvPicPr>
            <a:picLocks noChangeAspect="1"/>
          </p:cNvPicPr>
          <p:nvPr/>
        </p:nvPicPr>
        <p:blipFill>
          <a:blip r:embed="rId3"/>
          <a:stretch>
            <a:fillRect/>
          </a:stretch>
        </p:blipFill>
        <p:spPr>
          <a:xfrm>
            <a:off x="1335024" y="5038344"/>
            <a:ext cx="438912" cy="438912"/>
          </a:xfrm>
          <a:prstGeom prst="rect">
            <a:avLst/>
          </a:prstGeom>
        </p:spPr>
      </p:pic>
      <p:sp>
        <p:nvSpPr>
          <p:cNvPr id="11" name="Text 6"/>
          <p:cNvSpPr/>
          <p:nvPr/>
        </p:nvSpPr>
        <p:spPr>
          <a:xfrm>
            <a:off x="2331720" y="4937760"/>
            <a:ext cx="8229600" cy="685800"/>
          </a:xfrm>
          <a:prstGeom prst="rect">
            <a:avLst/>
          </a:prstGeom>
          <a:noFill/>
          <a:ln/>
        </p:spPr>
        <p:txBody>
          <a:bodyPr wrap="square" lIns="0" tIns="0" rIns="0" bIns="0" rtlCol="0" anchor="ctr"/>
          <a:lstStyle/>
          <a:p>
            <a:pPr indent="0" marL="0">
              <a:buNone/>
            </a:pPr>
            <a:r>
              <a:rPr lang="en-US" sz="2400" b="1" dirty="0">
                <a:solidFill>
                  <a:srgbClr val="8FA3E0"/>
                </a:solidFill>
                <a:latin typeface="Calibri" pitchFamily="34" charset="0"/>
                <a:ea typeface="Calibri" pitchFamily="34" charset="-122"/>
                <a:cs typeface="Calibri" pitchFamily="34" charset="-120"/>
              </a:rPr>
              <a:t>Hypothesis 3  —  </a:t>
            </a:r>
            <a:pPr indent="0" marL="0">
              <a:buNone/>
            </a:pPr>
            <a:r>
              <a:rPr lang="en-US" sz="2400" dirty="0">
                <a:solidFill>
                  <a:srgbClr val="FFFFFF"/>
                </a:solidFill>
                <a:latin typeface="Calibri" pitchFamily="34" charset="0"/>
                <a:ea typeface="Calibri" pitchFamily="34" charset="-122"/>
                <a:cs typeface="Calibri" pitchFamily="34" charset="-120"/>
              </a:rPr>
              <a:t>Is there a best time to buy?</a:t>
            </a:r>
            <a:endParaRPr lang="en-US" sz="2400" dirty="0"/>
          </a:p>
        </p:txBody>
      </p:sp>
      <p:sp>
        <p:nvSpPr>
          <p:cNvPr id="13" name="Text 7"/>
          <p:cNvSpPr/>
          <p:nvPr/>
        </p:nvSpPr>
        <p:spPr>
          <a:xfrm>
            <a:off x="11292840" y="6510528"/>
            <a:ext cx="77724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5 /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Location Commands a Premium</a:t>
            </a:r>
            <a:endParaRPr lang="en-US" sz="3000" dirty="0"/>
          </a:p>
        </p:txBody>
      </p:sp>
      <p:sp>
        <p:nvSpPr>
          <p:cNvPr id="3" name="Text 1"/>
          <p:cNvSpPr/>
          <p:nvPr/>
        </p:nvSpPr>
        <p:spPr>
          <a:xfrm>
            <a:off x="640080" y="1097280"/>
            <a:ext cx="10881360" cy="548640"/>
          </a:xfrm>
          <a:prstGeom prst="rect">
            <a:avLst/>
          </a:prstGeom>
          <a:noFill/>
          <a:ln/>
        </p:spPr>
        <p:txBody>
          <a:bodyPr wrap="square" lIns="0" tIns="0" rIns="0" bIns="0" rtlCol="0" anchor="ctr"/>
          <a:lstStyle/>
          <a:p>
            <a:pPr indent="0" marL="0">
              <a:lnSpc>
                <a:spcPct val="105000"/>
              </a:lnSpc>
              <a:buNone/>
            </a:pPr>
            <a:r>
              <a:rPr lang="en-US" sz="1600" dirty="0">
                <a:solidFill>
                  <a:srgbClr val="262626"/>
                </a:solidFill>
                <a:latin typeface="Calibri" pitchFamily="34" charset="0"/>
                <a:ea typeface="Calibri" pitchFamily="34" charset="-122"/>
                <a:cs typeface="Calibri" pitchFamily="34" charset="-120"/>
              </a:rPr>
              <a:t>A home within ~6 miles of downtown Seattle costs about 57% more per square foot than homes farther out.</a:t>
            </a:r>
            <a:endParaRPr lang="en-US" sz="1600" dirty="0"/>
          </a:p>
        </p:txBody>
      </p:sp>
      <p:pic>
        <p:nvPicPr>
          <p:cNvPr id="4" name="Image 0" descr="chart_location.png">    </p:cNvPr>
          <p:cNvPicPr>
            <a:picLocks noChangeAspect="1"/>
          </p:cNvPicPr>
          <p:nvPr/>
        </p:nvPicPr>
        <p:blipFill>
          <a:blip r:embed="rId1"/>
          <a:stretch>
            <a:fillRect/>
          </a:stretch>
        </p:blipFill>
        <p:spPr>
          <a:xfrm>
            <a:off x="822960" y="1874520"/>
            <a:ext cx="5394960" cy="4023360"/>
          </a:xfrm>
          <a:prstGeom prst="rect">
            <a:avLst/>
          </a:prstGeom>
        </p:spPr>
      </p:pic>
      <p:sp>
        <p:nvSpPr>
          <p:cNvPr id="5" name="Text 2"/>
          <p:cNvSpPr/>
          <p:nvPr/>
        </p:nvSpPr>
        <p:spPr>
          <a:xfrm>
            <a:off x="6949440" y="2194560"/>
            <a:ext cx="4663440" cy="2560320"/>
          </a:xfrm>
          <a:prstGeom prst="rect">
            <a:avLst/>
          </a:prstGeom>
          <a:noFill/>
          <a:ln/>
        </p:spPr>
        <p:txBody>
          <a:bodyPr wrap="square" lIns="0" tIns="0" rIns="0" bIns="0" rtlCol="0" anchor="ctr"/>
          <a:lstStyle/>
          <a:p>
            <a:pPr indent="0" marL="0">
              <a:lnSpc>
                <a:spcPct val="120000"/>
              </a:lnSpc>
              <a:buNone/>
            </a:pPr>
            <a:r>
              <a:rPr lang="en-US" sz="1500" dirty="0">
                <a:solidFill>
                  <a:srgbClr val="6B6B6B"/>
                </a:solidFill>
                <a:latin typeface="Calibri" pitchFamily="34" charset="0"/>
                <a:ea typeface="Calibri" pitchFamily="34" charset="-122"/>
                <a:cs typeface="Calibri" pitchFamily="34" charset="-120"/>
              </a:rPr>
              <a:t>Large-lot “country” homes don’t sell for less overall — but they do cost less per square foot of living space, since the buyer is paying for land, not finished floor area.</a:t>
            </a:r>
            <a:endParaRPr lang="en-US" sz="1500" dirty="0"/>
          </a:p>
        </p:txBody>
      </p:sp>
      <p:sp>
        <p:nvSpPr>
          <p:cNvPr id="7" name="Text 3"/>
          <p:cNvSpPr/>
          <p:nvPr/>
        </p:nvSpPr>
        <p:spPr>
          <a:xfrm>
            <a:off x="11292840" y="6510528"/>
            <a:ext cx="7772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6 /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Non-Renovated Homes Cost Less</a:t>
            </a:r>
            <a:endParaRPr lang="en-US" sz="2700" dirty="0"/>
          </a:p>
        </p:txBody>
      </p:sp>
      <p:sp>
        <p:nvSpPr>
          <p:cNvPr id="3" name="Text 1"/>
          <p:cNvSpPr/>
          <p:nvPr/>
        </p:nvSpPr>
        <p:spPr>
          <a:xfrm>
            <a:off x="640080" y="1097280"/>
            <a:ext cx="10881360" cy="548640"/>
          </a:xfrm>
          <a:prstGeom prst="rect">
            <a:avLst/>
          </a:prstGeom>
          <a:noFill/>
          <a:ln/>
        </p:spPr>
        <p:txBody>
          <a:bodyPr wrap="square" lIns="0" tIns="0" rIns="0" bIns="0" rtlCol="0" anchor="ctr"/>
          <a:lstStyle/>
          <a:p>
            <a:pPr indent="0" marL="0">
              <a:lnSpc>
                <a:spcPct val="105000"/>
              </a:lnSpc>
              <a:buNone/>
            </a:pPr>
            <a:r>
              <a:rPr lang="en-US" sz="1600" dirty="0">
                <a:solidFill>
                  <a:srgbClr val="262626"/>
                </a:solidFill>
                <a:latin typeface="Calibri" pitchFamily="34" charset="0"/>
                <a:ea typeface="Calibri" pitchFamily="34" charset="-122"/>
                <a:cs typeface="Calibri" pitchFamily="34" charset="-120"/>
              </a:rPr>
              <a:t>Non-renovated homes are both the norm (97% of listings) and the cheaper option — a ~34% savings among large-lot homes.</a:t>
            </a:r>
            <a:endParaRPr lang="en-US" sz="1600" dirty="0"/>
          </a:p>
        </p:txBody>
      </p:sp>
      <p:pic>
        <p:nvPicPr>
          <p:cNvPr id="4" name="Image 0" descr="chart_renovation.png">    </p:cNvPr>
          <p:cNvPicPr>
            <a:picLocks noChangeAspect="1"/>
          </p:cNvPicPr>
          <p:nvPr/>
        </p:nvPicPr>
        <p:blipFill>
          <a:blip r:embed="rId1"/>
          <a:stretch>
            <a:fillRect/>
          </a:stretch>
        </p:blipFill>
        <p:spPr>
          <a:xfrm>
            <a:off x="822960" y="1874520"/>
            <a:ext cx="5394960" cy="4023360"/>
          </a:xfrm>
          <a:prstGeom prst="rect">
            <a:avLst/>
          </a:prstGeom>
        </p:spPr>
      </p:pic>
      <p:sp>
        <p:nvSpPr>
          <p:cNvPr id="5" name="Text 2"/>
          <p:cNvSpPr/>
          <p:nvPr/>
        </p:nvSpPr>
        <p:spPr>
          <a:xfrm>
            <a:off x="6949440" y="2194560"/>
            <a:ext cx="4663440" cy="2560320"/>
          </a:xfrm>
          <a:prstGeom prst="rect">
            <a:avLst/>
          </a:prstGeom>
          <a:noFill/>
          <a:ln/>
        </p:spPr>
        <p:txBody>
          <a:bodyPr wrap="square" lIns="0" tIns="0" rIns="0" bIns="0" rtlCol="0" anchor="ctr"/>
          <a:lstStyle/>
          <a:p>
            <a:pPr indent="0" marL="0">
              <a:lnSpc>
                <a:spcPct val="120000"/>
              </a:lnSpc>
              <a:buNone/>
            </a:pPr>
            <a:r>
              <a:rPr lang="en-US" sz="1500" dirty="0">
                <a:solidFill>
                  <a:srgbClr val="6B6B6B"/>
                </a:solidFill>
                <a:latin typeface="Calibri" pitchFamily="34" charset="0"/>
                <a:ea typeface="Calibri" pitchFamily="34" charset="-122"/>
                <a:cs typeface="Calibri" pitchFamily="34" charset="-120"/>
              </a:rPr>
              <a:t>97% of King County homes have no renovation on record. Non-renovated isn’t a compromise here — it’s the typical listing, which lines up well with William’s stated preference.</a:t>
            </a:r>
            <a:endParaRPr lang="en-US" sz="1500" dirty="0"/>
          </a:p>
        </p:txBody>
      </p:sp>
      <p:sp>
        <p:nvSpPr>
          <p:cNvPr id="7" name="Text 3"/>
          <p:cNvSpPr/>
          <p:nvPr/>
        </p:nvSpPr>
        <p:spPr>
          <a:xfrm>
            <a:off x="11292840" y="6510528"/>
            <a:ext cx="7772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7 /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54864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When You Buy Determines What You Pay</a:t>
            </a:r>
            <a:endParaRPr lang="en-US" sz="2700" dirty="0"/>
          </a:p>
        </p:txBody>
      </p:sp>
      <p:sp>
        <p:nvSpPr>
          <p:cNvPr id="3" name="Text 1"/>
          <p:cNvSpPr/>
          <p:nvPr/>
        </p:nvSpPr>
        <p:spPr>
          <a:xfrm>
            <a:off x="640080" y="960120"/>
            <a:ext cx="10881360" cy="548640"/>
          </a:xfrm>
          <a:prstGeom prst="rect">
            <a:avLst/>
          </a:prstGeom>
          <a:noFill/>
          <a:ln/>
        </p:spPr>
        <p:txBody>
          <a:bodyPr wrap="square" lIns="0" tIns="0" rIns="0" bIns="0" rtlCol="0" anchor="ctr"/>
          <a:lstStyle/>
          <a:p>
            <a:pPr indent="0" marL="0">
              <a:lnSpc>
                <a:spcPct val="105000"/>
              </a:lnSpc>
              <a:buNone/>
            </a:pPr>
            <a:r>
              <a:rPr lang="en-US" sz="1600" dirty="0">
                <a:solidFill>
                  <a:srgbClr val="262626"/>
                </a:solidFill>
                <a:latin typeface="Calibri" pitchFamily="34" charset="0"/>
                <a:ea typeface="Calibri" pitchFamily="34" charset="-122"/>
                <a:cs typeface="Calibri" pitchFamily="34" charset="-120"/>
              </a:rPr>
              <a:t>For country homes, August is the cheapest month to close (median $493,725) — worth timing around if savings matter most.</a:t>
            </a:r>
            <a:endParaRPr lang="en-US" sz="1600" dirty="0"/>
          </a:p>
        </p:txBody>
      </p:sp>
      <p:sp>
        <p:nvSpPr>
          <p:cNvPr id="4" name="Text 2"/>
          <p:cNvSpPr/>
          <p:nvPr/>
        </p:nvSpPr>
        <p:spPr>
          <a:xfrm>
            <a:off x="640080" y="1481328"/>
            <a:ext cx="10881360" cy="320040"/>
          </a:xfrm>
          <a:prstGeom prst="rect">
            <a:avLst/>
          </a:prstGeom>
          <a:noFill/>
          <a:ln/>
        </p:spPr>
        <p:txBody>
          <a:bodyPr wrap="square" lIns="0" tIns="0" rIns="0" bIns="0" rtlCol="0" anchor="ctr"/>
          <a:lstStyle/>
          <a:p>
            <a:pPr indent="0" marL="0">
              <a:buNone/>
            </a:pPr>
            <a:r>
              <a:rPr lang="en-US" sz="1300" i="1" dirty="0">
                <a:solidFill>
                  <a:srgbClr val="6B6B6B"/>
                </a:solidFill>
                <a:latin typeface="Calibri" pitchFamily="34" charset="0"/>
                <a:ea typeface="Calibri" pitchFamily="34" charset="-122"/>
                <a:cs typeface="Calibri" pitchFamily="34" charset="-120"/>
              </a:rPr>
              <a:t>Country homes specifically — city homes follow a different, later-year pattern.</a:t>
            </a:r>
            <a:endParaRPr lang="en-US" sz="1300" dirty="0"/>
          </a:p>
        </p:txBody>
      </p:sp>
      <p:pic>
        <p:nvPicPr>
          <p:cNvPr id="5" name="Image 0" descr="chart_timing.png">    </p:cNvPr>
          <p:cNvPicPr>
            <a:picLocks noChangeAspect="1"/>
          </p:cNvPicPr>
          <p:nvPr/>
        </p:nvPicPr>
        <p:blipFill>
          <a:blip r:embed="rId1"/>
          <a:stretch>
            <a:fillRect/>
          </a:stretch>
        </p:blipFill>
        <p:spPr>
          <a:xfrm>
            <a:off x="1069848" y="1783080"/>
            <a:ext cx="10058400" cy="3675888"/>
          </a:xfrm>
          <a:prstGeom prst="rect">
            <a:avLst/>
          </a:prstGeom>
        </p:spPr>
      </p:pic>
      <p:sp>
        <p:nvSpPr>
          <p:cNvPr id="6" name="Text 3"/>
          <p:cNvSpPr/>
          <p:nvPr/>
        </p:nvSpPr>
        <p:spPr>
          <a:xfrm>
            <a:off x="822960" y="5623560"/>
            <a:ext cx="5212080" cy="777240"/>
          </a:xfrm>
          <a:prstGeom prst="rect">
            <a:avLst/>
          </a:prstGeom>
          <a:noFill/>
          <a:ln/>
        </p:spPr>
        <p:txBody>
          <a:bodyPr wrap="square" lIns="0" tIns="0" rIns="0" bIns="0" rtlCol="0" anchor="ctr"/>
          <a:lstStyle/>
          <a:p>
            <a:pPr algn="ctr" indent="0" marL="0">
              <a:buNone/>
            </a:pPr>
            <a:r>
              <a:rPr lang="en-US" sz="4000" b="1" dirty="0">
                <a:solidFill>
                  <a:srgbClr val="1C7293"/>
                </a:solidFill>
                <a:latin typeface="Cambria" pitchFamily="34" charset="0"/>
                <a:ea typeface="Cambria" pitchFamily="34" charset="-122"/>
                <a:cs typeface="Cambria" pitchFamily="34" charset="-120"/>
              </a:rPr>
              <a:t>Aug – $493,725</a:t>
            </a:r>
            <a:endParaRPr lang="en-US" sz="4000" dirty="0"/>
          </a:p>
        </p:txBody>
      </p:sp>
      <p:sp>
        <p:nvSpPr>
          <p:cNvPr id="7" name="Text 4"/>
          <p:cNvSpPr/>
          <p:nvPr/>
        </p:nvSpPr>
        <p:spPr>
          <a:xfrm>
            <a:off x="822960" y="6355080"/>
            <a:ext cx="5212080" cy="502920"/>
          </a:xfrm>
          <a:prstGeom prst="rect">
            <a:avLst/>
          </a:prstGeom>
          <a:noFill/>
          <a:ln/>
        </p:spPr>
        <p:txBody>
          <a:bodyPr wrap="square" lIns="0" tIns="0" rIns="0" bIns="0" rtlCol="0" anchor="ctr"/>
          <a:lstStyle/>
          <a:p>
            <a:pPr algn="ctr" indent="0" marL="0">
              <a:buNone/>
            </a:pPr>
            <a:r>
              <a:rPr lang="en-US" sz="1300" dirty="0">
                <a:solidFill>
                  <a:srgbClr val="6B6B6B"/>
                </a:solidFill>
                <a:latin typeface="Calibri" pitchFamily="34" charset="0"/>
                <a:ea typeface="Calibri" pitchFamily="34" charset="-122"/>
                <a:cs typeface="Calibri" pitchFamily="34" charset="-120"/>
              </a:rPr>
              <a:t>cheapest median price for country homes</a:t>
            </a:r>
            <a:endParaRPr lang="en-US" sz="1300" dirty="0"/>
          </a:p>
        </p:txBody>
      </p:sp>
      <p:sp>
        <p:nvSpPr>
          <p:cNvPr id="8" name="Text 5"/>
          <p:cNvSpPr/>
          <p:nvPr/>
        </p:nvSpPr>
        <p:spPr>
          <a:xfrm>
            <a:off x="6172200" y="5623560"/>
            <a:ext cx="5212080" cy="777240"/>
          </a:xfrm>
          <a:prstGeom prst="rect">
            <a:avLst/>
          </a:prstGeom>
          <a:noFill/>
          <a:ln/>
        </p:spPr>
        <p:txBody>
          <a:bodyPr wrap="square" lIns="0" tIns="0" rIns="0" bIns="0" rtlCol="0" anchor="ctr"/>
          <a:lstStyle/>
          <a:p>
            <a:pPr algn="ctr" indent="0" marL="0">
              <a:buNone/>
            </a:pPr>
            <a:r>
              <a:rPr lang="en-US" sz="4000" b="1" dirty="0">
                <a:solidFill>
                  <a:srgbClr val="1C7293"/>
                </a:solidFill>
                <a:latin typeface="Cambria" pitchFamily="34" charset="0"/>
                <a:ea typeface="Cambria" pitchFamily="34" charset="-122"/>
                <a:cs typeface="Cambria" pitchFamily="34" charset="-120"/>
              </a:rPr>
              <a:t>May – 604 sales</a:t>
            </a:r>
            <a:endParaRPr lang="en-US" sz="4000" dirty="0"/>
          </a:p>
        </p:txBody>
      </p:sp>
      <p:sp>
        <p:nvSpPr>
          <p:cNvPr id="9" name="Text 6"/>
          <p:cNvSpPr/>
          <p:nvPr/>
        </p:nvSpPr>
        <p:spPr>
          <a:xfrm>
            <a:off x="6172200" y="6355080"/>
            <a:ext cx="5212080" cy="502920"/>
          </a:xfrm>
          <a:prstGeom prst="rect">
            <a:avLst/>
          </a:prstGeom>
          <a:noFill/>
          <a:ln/>
        </p:spPr>
        <p:txBody>
          <a:bodyPr wrap="square" lIns="0" tIns="0" rIns="0" bIns="0" rtlCol="0" anchor="ctr"/>
          <a:lstStyle/>
          <a:p>
            <a:pPr algn="ctr" indent="0" marL="0">
              <a:buNone/>
            </a:pPr>
            <a:r>
              <a:rPr lang="en-US" sz="1300" dirty="0">
                <a:solidFill>
                  <a:srgbClr val="6B6B6B"/>
                </a:solidFill>
                <a:latin typeface="Calibri" pitchFamily="34" charset="0"/>
                <a:ea typeface="Calibri" pitchFamily="34" charset="-122"/>
                <a:cs typeface="Calibri" pitchFamily="34" charset="-120"/>
              </a:rPr>
              <a:t>most country-home listings to choose from</a:t>
            </a:r>
            <a:endParaRPr lang="en-US" sz="1300" dirty="0"/>
          </a:p>
        </p:txBody>
      </p:sp>
      <p:sp>
        <p:nvSpPr>
          <p:cNvPr id="11" name="Text 7"/>
          <p:cNvSpPr/>
          <p:nvPr/>
        </p:nvSpPr>
        <p:spPr>
          <a:xfrm>
            <a:off x="11292840" y="6510528"/>
            <a:ext cx="777240" cy="274320"/>
          </a:xfrm>
          <a:prstGeom prst="rect">
            <a:avLst/>
          </a:prstGeom>
          <a:noFill/>
          <a:ln/>
        </p:spPr>
        <p:txBody>
          <a:bodyPr wrap="square" lIns="0" tIns="0" rIns="0" bIns="0" rtlCol="0" anchor="ctr"/>
          <a:lstStyle/>
          <a:p>
            <a:pPr algn="r" indent="0" marL="0">
              <a:buNone/>
            </a:pPr>
            <a:r>
              <a:rPr lang="en-US" sz="1000" dirty="0">
                <a:solidFill>
                  <a:srgbClr val="6B6B6B"/>
                </a:solidFill>
                <a:latin typeface="Calibri" pitchFamily="34" charset="0"/>
                <a:ea typeface="Calibri" pitchFamily="34" charset="-122"/>
                <a:cs typeface="Calibri" pitchFamily="34" charset="-120"/>
              </a:rPr>
              <a:t>8 /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7293"/>
        </a:solidFill>
      </p:bgPr>
    </p:bg>
    <p:spTree>
      <p:nvGrpSpPr>
        <p:cNvPr id="1" name=""/>
        <p:cNvGrpSpPr/>
        <p:nvPr/>
      </p:nvGrpSpPr>
      <p:grpSpPr>
        <a:xfrm>
          <a:off x="0" y="0"/>
          <a:ext cx="0" cy="0"/>
          <a:chOff x="0" y="0"/>
          <a:chExt cx="0" cy="0"/>
        </a:xfrm>
      </p:grpSpPr>
      <p:sp>
        <p:nvSpPr>
          <p:cNvPr id="2" name="Shape 0"/>
          <p:cNvSpPr/>
          <p:nvPr/>
        </p:nvSpPr>
        <p:spPr>
          <a:xfrm>
            <a:off x="731520" y="457200"/>
            <a:ext cx="914400" cy="914400"/>
          </a:xfrm>
          <a:prstGeom prst="ellipse">
            <a:avLst/>
          </a:prstGeom>
          <a:solidFill>
            <a:srgbClr val="155A6E"/>
          </a:solidFill>
          <a:ln/>
        </p:spPr>
      </p:sp>
      <p:pic>
        <p:nvPicPr>
          <p:cNvPr id="3" name="Image 0" descr="preencoded.png">    </p:cNvPr>
          <p:cNvPicPr>
            <a:picLocks noChangeAspect="1"/>
          </p:cNvPicPr>
          <p:nvPr/>
        </p:nvPicPr>
        <p:blipFill>
          <a:blip r:embed="rId1"/>
          <a:stretch>
            <a:fillRect/>
          </a:stretch>
        </p:blipFill>
        <p:spPr>
          <a:xfrm>
            <a:off x="969264" y="694944"/>
            <a:ext cx="438912" cy="438912"/>
          </a:xfrm>
          <a:prstGeom prst="rect">
            <a:avLst/>
          </a:prstGeom>
        </p:spPr>
      </p:pic>
      <p:sp>
        <p:nvSpPr>
          <p:cNvPr id="4" name="Text 1"/>
          <p:cNvSpPr/>
          <p:nvPr/>
        </p:nvSpPr>
        <p:spPr>
          <a:xfrm>
            <a:off x="1828800" y="438912"/>
            <a:ext cx="9509760" cy="7772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For the City Home  →  Zip 98118</a:t>
            </a:r>
            <a:endParaRPr lang="en-US" sz="2800" dirty="0"/>
          </a:p>
        </p:txBody>
      </p:sp>
      <p:sp>
        <p:nvSpPr>
          <p:cNvPr id="5" name="Text 2"/>
          <p:cNvSpPr/>
          <p:nvPr/>
        </p:nvSpPr>
        <p:spPr>
          <a:xfrm>
            <a:off x="640080" y="1280160"/>
            <a:ext cx="10881360" cy="548640"/>
          </a:xfrm>
          <a:prstGeom prst="rect">
            <a:avLst/>
          </a:prstGeom>
          <a:noFill/>
          <a:ln/>
        </p:spPr>
        <p:txBody>
          <a:bodyPr wrap="square" lIns="0" tIns="0" rIns="0" bIns="0" rtlCol="0" anchor="ctr"/>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98118 is the closest high-turnover, affordable zip to downtown — the strongest match for “fast and central.”</a:t>
            </a:r>
            <a:endParaRPr lang="en-US" sz="1600" dirty="0"/>
          </a:p>
        </p:txBody>
      </p:sp>
      <p:sp>
        <p:nvSpPr>
          <p:cNvPr id="6" name="Shape 3"/>
          <p:cNvSpPr/>
          <p:nvPr/>
        </p:nvSpPr>
        <p:spPr>
          <a:xfrm>
            <a:off x="640080" y="1965960"/>
            <a:ext cx="5806440" cy="4160520"/>
          </a:xfrm>
          <a:prstGeom prst="roundRect">
            <a:avLst>
              <a:gd name="adj" fmla="val 2198"/>
            </a:avLst>
          </a:prstGeom>
          <a:solidFill>
            <a:srgbClr val="FFFFFF"/>
          </a:solidFill>
          <a:ln/>
        </p:spPr>
      </p:sp>
      <p:pic>
        <p:nvPicPr>
          <p:cNvPr id="7" name="Image 1" descr="chart_slide9_zip_bubble.png">    </p:cNvPr>
          <p:cNvPicPr>
            <a:picLocks noChangeAspect="1"/>
          </p:cNvPicPr>
          <p:nvPr/>
        </p:nvPicPr>
        <p:blipFill>
          <a:blip r:embed="rId2"/>
          <a:stretch>
            <a:fillRect/>
          </a:stretch>
        </p:blipFill>
        <p:spPr>
          <a:xfrm>
            <a:off x="777240" y="2103120"/>
            <a:ext cx="5532120" cy="3685032"/>
          </a:xfrm>
          <a:prstGeom prst="rect">
            <a:avLst/>
          </a:prstGeom>
        </p:spPr>
      </p:pic>
      <p:sp>
        <p:nvSpPr>
          <p:cNvPr id="8" name="Text 4"/>
          <p:cNvSpPr/>
          <p:nvPr/>
        </p:nvSpPr>
        <p:spPr>
          <a:xfrm>
            <a:off x="777240" y="5760720"/>
            <a:ext cx="5532120" cy="320040"/>
          </a:xfrm>
          <a:prstGeom prst="rect">
            <a:avLst/>
          </a:prstGeom>
          <a:noFill/>
          <a:ln/>
        </p:spPr>
        <p:txBody>
          <a:bodyPr wrap="square" lIns="0" tIns="0" rIns="0" bIns="0" rtlCol="0" anchor="ctr"/>
          <a:lstStyle/>
          <a:p>
            <a:pPr indent="0" marL="0">
              <a:buNone/>
            </a:pPr>
            <a:r>
              <a:rPr lang="en-US" sz="1300" i="1" dirty="0">
                <a:solidFill>
                  <a:srgbClr val="1A6D85"/>
                </a:solidFill>
                <a:latin typeface="Calibri" pitchFamily="34" charset="0"/>
                <a:ea typeface="Calibri" pitchFamily="34" charset="-122"/>
                <a:cs typeface="Calibri" pitchFamily="34" charset="-120"/>
              </a:rPr>
              <a:t>Distance vs. large-lot share, sized by sales, colored by price — 98118 circled.</a:t>
            </a:r>
            <a:endParaRPr lang="en-US" sz="1300" dirty="0"/>
          </a:p>
        </p:txBody>
      </p:sp>
      <p:sp>
        <p:nvSpPr>
          <p:cNvPr id="9" name="Shape 5"/>
          <p:cNvSpPr/>
          <p:nvPr/>
        </p:nvSpPr>
        <p:spPr>
          <a:xfrm>
            <a:off x="6656832" y="2011680"/>
            <a:ext cx="4892040" cy="1261872"/>
          </a:xfrm>
          <a:prstGeom prst="roundRect">
            <a:avLst>
              <a:gd name="adj" fmla="val 7246"/>
            </a:avLst>
          </a:prstGeom>
          <a:solidFill>
            <a:srgbClr val="1A6D85"/>
          </a:solidFill>
          <a:ln/>
        </p:spPr>
      </p:sp>
      <p:sp>
        <p:nvSpPr>
          <p:cNvPr id="10" name="Text 6"/>
          <p:cNvSpPr/>
          <p:nvPr/>
        </p:nvSpPr>
        <p:spPr>
          <a:xfrm>
            <a:off x="6858000" y="2121408"/>
            <a:ext cx="448056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7.9 km</a:t>
            </a:r>
            <a:endParaRPr lang="en-US" sz="2200" dirty="0"/>
          </a:p>
        </p:txBody>
      </p:sp>
      <p:sp>
        <p:nvSpPr>
          <p:cNvPr id="11" name="Text 7"/>
          <p:cNvSpPr/>
          <p:nvPr/>
        </p:nvSpPr>
        <p:spPr>
          <a:xfrm>
            <a:off x="6858000" y="2578608"/>
            <a:ext cx="448056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from downtown Seattle — the closest of the high-turnover zips</a:t>
            </a:r>
            <a:endParaRPr lang="en-US" sz="1300" dirty="0"/>
          </a:p>
        </p:txBody>
      </p:sp>
      <p:sp>
        <p:nvSpPr>
          <p:cNvPr id="12" name="Shape 8"/>
          <p:cNvSpPr/>
          <p:nvPr/>
        </p:nvSpPr>
        <p:spPr>
          <a:xfrm>
            <a:off x="6656832" y="3419856"/>
            <a:ext cx="4892040" cy="1261872"/>
          </a:xfrm>
          <a:prstGeom prst="roundRect">
            <a:avLst>
              <a:gd name="adj" fmla="val 7246"/>
            </a:avLst>
          </a:prstGeom>
          <a:solidFill>
            <a:srgbClr val="1A6D85"/>
          </a:solidFill>
          <a:ln/>
        </p:spPr>
      </p:sp>
      <p:sp>
        <p:nvSpPr>
          <p:cNvPr id="13" name="Text 9"/>
          <p:cNvSpPr/>
          <p:nvPr/>
        </p:nvSpPr>
        <p:spPr>
          <a:xfrm>
            <a:off x="6858000" y="3529584"/>
            <a:ext cx="448056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507 sales</a:t>
            </a:r>
            <a:endParaRPr lang="en-US" sz="2200" dirty="0"/>
          </a:p>
        </p:txBody>
      </p:sp>
      <p:sp>
        <p:nvSpPr>
          <p:cNvPr id="14" name="Text 10"/>
          <p:cNvSpPr/>
          <p:nvPr/>
        </p:nvSpPr>
        <p:spPr>
          <a:xfrm>
            <a:off x="6858000" y="3986784"/>
            <a:ext cx="448056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in the 12-month window — highest turnover among affordable central zips</a:t>
            </a:r>
            <a:endParaRPr lang="en-US" sz="1300" dirty="0"/>
          </a:p>
        </p:txBody>
      </p:sp>
      <p:sp>
        <p:nvSpPr>
          <p:cNvPr id="15" name="Shape 11"/>
          <p:cNvSpPr/>
          <p:nvPr/>
        </p:nvSpPr>
        <p:spPr>
          <a:xfrm>
            <a:off x="6656832" y="4828032"/>
            <a:ext cx="4892040" cy="1261872"/>
          </a:xfrm>
          <a:prstGeom prst="roundRect">
            <a:avLst>
              <a:gd name="adj" fmla="val 7246"/>
            </a:avLst>
          </a:prstGeom>
          <a:solidFill>
            <a:srgbClr val="1A6D85"/>
          </a:solidFill>
          <a:ln/>
        </p:spPr>
      </p:sp>
      <p:sp>
        <p:nvSpPr>
          <p:cNvPr id="16" name="Text 12"/>
          <p:cNvSpPr/>
          <p:nvPr/>
        </p:nvSpPr>
        <p:spPr>
          <a:xfrm>
            <a:off x="6858000" y="4937760"/>
            <a:ext cx="448056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$367,500</a:t>
            </a:r>
            <a:endParaRPr lang="en-US" sz="2200" dirty="0"/>
          </a:p>
        </p:txBody>
      </p:sp>
      <p:sp>
        <p:nvSpPr>
          <p:cNvPr id="17" name="Text 13"/>
          <p:cNvSpPr/>
          <p:nvPr/>
        </p:nvSpPr>
        <p:spPr>
          <a:xfrm>
            <a:off x="6858000" y="5394960"/>
            <a:ext cx="448056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median price — the most affordable of that group</a:t>
            </a:r>
            <a:endParaRPr lang="en-US" sz="1300" dirty="0"/>
          </a:p>
        </p:txBody>
      </p:sp>
      <p:sp>
        <p:nvSpPr>
          <p:cNvPr id="18" name="Text 14"/>
          <p:cNvSpPr/>
          <p:nvPr/>
        </p:nvSpPr>
        <p:spPr>
          <a:xfrm>
            <a:off x="6656832" y="6281928"/>
            <a:ext cx="4892040" cy="685800"/>
          </a:xfrm>
          <a:prstGeom prst="rect">
            <a:avLst/>
          </a:prstGeom>
          <a:noFill/>
          <a:ln/>
        </p:spPr>
        <p:txBody>
          <a:bodyPr wrap="square" lIns="0" tIns="0" rIns="0" bIns="0" rtlCol="0" anchor="ctr"/>
          <a:lstStyle/>
          <a:p>
            <a:pPr indent="0" marL="0">
              <a:lnSpc>
                <a:spcPct val="110000"/>
              </a:lnSpc>
              <a:buNone/>
            </a:pPr>
            <a:r>
              <a:rPr lang="en-US" sz="1300" i="1" dirty="0">
                <a:solidFill>
                  <a:srgbClr val="FFFFFF"/>
                </a:solidFill>
                <a:latin typeface="Calibri" pitchFamily="34" charset="0"/>
                <a:ea typeface="Calibri" pitchFamily="34" charset="-122"/>
                <a:cs typeface="Calibri" pitchFamily="34" charset="-120"/>
              </a:rPr>
              <a:t>98103, 98115, and 98117 are strong second choices. Filter to 1–3 bedrooms — plenty for a household of 2, avoiding a ~41% size premium.</a:t>
            </a:r>
            <a:endParaRPr lang="en-US" sz="1300" dirty="0"/>
          </a:p>
        </p:txBody>
      </p:sp>
      <p:sp>
        <p:nvSpPr>
          <p:cNvPr id="20" name="Text 15"/>
          <p:cNvSpPr/>
          <p:nvPr/>
        </p:nvSpPr>
        <p:spPr>
          <a:xfrm>
            <a:off x="11292840" y="6510528"/>
            <a:ext cx="77724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9 /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C5F2D"/>
        </a:solidFill>
      </p:bgPr>
    </p:bg>
    <p:spTree>
      <p:nvGrpSpPr>
        <p:cNvPr id="1" name=""/>
        <p:cNvGrpSpPr/>
        <p:nvPr/>
      </p:nvGrpSpPr>
      <p:grpSpPr>
        <a:xfrm>
          <a:off x="0" y="0"/>
          <a:ext cx="0" cy="0"/>
          <a:chOff x="0" y="0"/>
          <a:chExt cx="0" cy="0"/>
        </a:xfrm>
      </p:grpSpPr>
      <p:sp>
        <p:nvSpPr>
          <p:cNvPr id="2" name="Shape 0"/>
          <p:cNvSpPr/>
          <p:nvPr/>
        </p:nvSpPr>
        <p:spPr>
          <a:xfrm>
            <a:off x="731520" y="457200"/>
            <a:ext cx="914400" cy="914400"/>
          </a:xfrm>
          <a:prstGeom prst="ellipse">
            <a:avLst/>
          </a:prstGeom>
          <a:solidFill>
            <a:srgbClr val="1E4620"/>
          </a:solidFill>
          <a:ln/>
        </p:spPr>
      </p:sp>
      <p:pic>
        <p:nvPicPr>
          <p:cNvPr id="3" name="Image 0" descr="preencoded.png">    </p:cNvPr>
          <p:cNvPicPr>
            <a:picLocks noChangeAspect="1"/>
          </p:cNvPicPr>
          <p:nvPr/>
        </p:nvPicPr>
        <p:blipFill>
          <a:blip r:embed="rId1"/>
          <a:stretch>
            <a:fillRect/>
          </a:stretch>
        </p:blipFill>
        <p:spPr>
          <a:xfrm>
            <a:off x="969264" y="694944"/>
            <a:ext cx="438912" cy="438912"/>
          </a:xfrm>
          <a:prstGeom prst="rect">
            <a:avLst/>
          </a:prstGeom>
        </p:spPr>
      </p:pic>
      <p:sp>
        <p:nvSpPr>
          <p:cNvPr id="4" name="Text 1"/>
          <p:cNvSpPr/>
          <p:nvPr/>
        </p:nvSpPr>
        <p:spPr>
          <a:xfrm>
            <a:off x="1828800" y="438912"/>
            <a:ext cx="95097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For the Country Home  →  Zip 98010 or 98014</a:t>
            </a:r>
            <a:endParaRPr lang="en-US" sz="2600" dirty="0"/>
          </a:p>
        </p:txBody>
      </p:sp>
      <p:sp>
        <p:nvSpPr>
          <p:cNvPr id="5" name="Text 2"/>
          <p:cNvSpPr/>
          <p:nvPr/>
        </p:nvSpPr>
        <p:spPr>
          <a:xfrm>
            <a:off x="640080" y="1280160"/>
            <a:ext cx="10881360" cy="548640"/>
          </a:xfrm>
          <a:prstGeom prst="rect">
            <a:avLst/>
          </a:prstGeom>
          <a:noFill/>
          <a:ln/>
        </p:spPr>
        <p:txBody>
          <a:bodyPr wrap="square" lIns="0" tIns="0" rIns="0" bIns="0" rtlCol="0" anchor="ctr"/>
          <a:lstStyle/>
          <a:p>
            <a:pPr indent="0" marL="0">
              <a:lnSpc>
                <a:spcPct val="105000"/>
              </a:lnSpc>
              <a:buNone/>
            </a:pPr>
            <a:r>
              <a:rPr lang="en-US" sz="1600" dirty="0">
                <a:solidFill>
                  <a:srgbClr val="FFFFFF"/>
                </a:solidFill>
                <a:latin typeface="Calibri" pitchFamily="34" charset="0"/>
                <a:ea typeface="Calibri" pitchFamily="34" charset="-122"/>
                <a:cs typeface="Calibri" pitchFamily="34" charset="-120"/>
              </a:rPr>
              <a:t>98010 and 98014 are genuinely rural, affordable, with enough active listings and sales to suit William's timeline and preference for non-renovated homes.</a:t>
            </a:r>
            <a:endParaRPr lang="en-US" sz="1600" dirty="0"/>
          </a:p>
        </p:txBody>
      </p:sp>
      <p:sp>
        <p:nvSpPr>
          <p:cNvPr id="6" name="Shape 3"/>
          <p:cNvSpPr/>
          <p:nvPr/>
        </p:nvSpPr>
        <p:spPr>
          <a:xfrm>
            <a:off x="640080" y="1965960"/>
            <a:ext cx="5806440" cy="4160520"/>
          </a:xfrm>
          <a:prstGeom prst="roundRect">
            <a:avLst>
              <a:gd name="adj" fmla="val 2198"/>
            </a:avLst>
          </a:prstGeom>
          <a:solidFill>
            <a:srgbClr val="FFFFFF"/>
          </a:solidFill>
          <a:ln/>
        </p:spPr>
      </p:sp>
      <p:pic>
        <p:nvPicPr>
          <p:cNvPr id="7" name="Image 1" descr="chart_slide9_zip_bubble.png">    </p:cNvPr>
          <p:cNvPicPr>
            <a:picLocks noChangeAspect="1"/>
          </p:cNvPicPr>
          <p:nvPr/>
        </p:nvPicPr>
        <p:blipFill>
          <a:blip r:embed="rId2"/>
          <a:stretch>
            <a:fillRect/>
          </a:stretch>
        </p:blipFill>
        <p:spPr>
          <a:xfrm>
            <a:off x="777240" y="2103120"/>
            <a:ext cx="5532120" cy="3685032"/>
          </a:xfrm>
          <a:prstGeom prst="rect">
            <a:avLst/>
          </a:prstGeom>
        </p:spPr>
      </p:pic>
      <p:sp>
        <p:nvSpPr>
          <p:cNvPr id="8" name="Text 4"/>
          <p:cNvSpPr/>
          <p:nvPr/>
        </p:nvSpPr>
        <p:spPr>
          <a:xfrm>
            <a:off x="777240" y="5760720"/>
            <a:ext cx="5532120" cy="320040"/>
          </a:xfrm>
          <a:prstGeom prst="rect">
            <a:avLst/>
          </a:prstGeom>
          <a:noFill/>
          <a:ln/>
        </p:spPr>
        <p:txBody>
          <a:bodyPr wrap="square" lIns="0" tIns="0" rIns="0" bIns="0" rtlCol="0" anchor="ctr"/>
          <a:lstStyle/>
          <a:p>
            <a:pPr indent="0" marL="0">
              <a:buNone/>
            </a:pPr>
            <a:r>
              <a:rPr lang="en-US" sz="1300" i="1" dirty="0">
                <a:solidFill>
                  <a:srgbClr val="244F26"/>
                </a:solidFill>
                <a:latin typeface="Calibri" pitchFamily="34" charset="0"/>
                <a:ea typeface="Calibri" pitchFamily="34" charset="-122"/>
                <a:cs typeface="Calibri" pitchFamily="34" charset="-120"/>
              </a:rPr>
              <a:t>Distance vs. large-lot share, sized by sales, colored by price — 98010 &amp; 98014 circled.</a:t>
            </a:r>
            <a:endParaRPr lang="en-US" sz="1300" dirty="0"/>
          </a:p>
        </p:txBody>
      </p:sp>
      <p:sp>
        <p:nvSpPr>
          <p:cNvPr id="9" name="Shape 5"/>
          <p:cNvSpPr/>
          <p:nvPr/>
        </p:nvSpPr>
        <p:spPr>
          <a:xfrm>
            <a:off x="6656832" y="2011680"/>
            <a:ext cx="4892040" cy="1261872"/>
          </a:xfrm>
          <a:prstGeom prst="roundRect">
            <a:avLst>
              <a:gd name="adj" fmla="val 7246"/>
            </a:avLst>
          </a:prstGeom>
          <a:solidFill>
            <a:srgbClr val="244F26"/>
          </a:solidFill>
          <a:ln/>
        </p:spPr>
      </p:sp>
      <p:sp>
        <p:nvSpPr>
          <p:cNvPr id="10" name="Text 6"/>
          <p:cNvSpPr/>
          <p:nvPr/>
        </p:nvSpPr>
        <p:spPr>
          <a:xfrm>
            <a:off x="6858000" y="2121408"/>
            <a:ext cx="448056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30+ km</a:t>
            </a:r>
            <a:endParaRPr lang="en-US" sz="2000" dirty="0"/>
          </a:p>
        </p:txBody>
      </p:sp>
      <p:sp>
        <p:nvSpPr>
          <p:cNvPr id="11" name="Text 7"/>
          <p:cNvSpPr/>
          <p:nvPr/>
        </p:nvSpPr>
        <p:spPr>
          <a:xfrm>
            <a:off x="6858000" y="2578608"/>
            <a:ext cx="448056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from downtown — genuinely rural, not just “outside city limits”</a:t>
            </a:r>
            <a:endParaRPr lang="en-US" sz="1300" dirty="0"/>
          </a:p>
        </p:txBody>
      </p:sp>
      <p:sp>
        <p:nvSpPr>
          <p:cNvPr id="12" name="Shape 8"/>
          <p:cNvSpPr/>
          <p:nvPr/>
        </p:nvSpPr>
        <p:spPr>
          <a:xfrm>
            <a:off x="6656832" y="3419856"/>
            <a:ext cx="4892040" cy="1261872"/>
          </a:xfrm>
          <a:prstGeom prst="roundRect">
            <a:avLst>
              <a:gd name="adj" fmla="val 7246"/>
            </a:avLst>
          </a:prstGeom>
          <a:solidFill>
            <a:srgbClr val="244F26"/>
          </a:solidFill>
          <a:ln/>
        </p:spPr>
      </p:sp>
      <p:sp>
        <p:nvSpPr>
          <p:cNvPr id="13" name="Text 9"/>
          <p:cNvSpPr/>
          <p:nvPr/>
        </p:nvSpPr>
        <p:spPr>
          <a:xfrm>
            <a:off x="6858000" y="3529584"/>
            <a:ext cx="448056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68–85%</a:t>
            </a:r>
            <a:endParaRPr lang="en-US" sz="2000" dirty="0"/>
          </a:p>
        </p:txBody>
      </p:sp>
      <p:sp>
        <p:nvSpPr>
          <p:cNvPr id="14" name="Text 10"/>
          <p:cNvSpPr/>
          <p:nvPr/>
        </p:nvSpPr>
        <p:spPr>
          <a:xfrm>
            <a:off x="6858000" y="3986784"/>
            <a:ext cx="448056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of homes in these zips are large-lot — real country character</a:t>
            </a:r>
            <a:endParaRPr lang="en-US" sz="1300" dirty="0"/>
          </a:p>
        </p:txBody>
      </p:sp>
      <p:sp>
        <p:nvSpPr>
          <p:cNvPr id="15" name="Shape 11"/>
          <p:cNvSpPr/>
          <p:nvPr/>
        </p:nvSpPr>
        <p:spPr>
          <a:xfrm>
            <a:off x="6656832" y="4828032"/>
            <a:ext cx="4892040" cy="1261872"/>
          </a:xfrm>
          <a:prstGeom prst="roundRect">
            <a:avLst>
              <a:gd name="adj" fmla="val 7246"/>
            </a:avLst>
          </a:prstGeom>
          <a:solidFill>
            <a:srgbClr val="244F26"/>
          </a:solidFill>
          <a:ln/>
        </p:spPr>
      </p:sp>
      <p:sp>
        <p:nvSpPr>
          <p:cNvPr id="16" name="Text 12"/>
          <p:cNvSpPr/>
          <p:nvPr/>
        </p:nvSpPr>
        <p:spPr>
          <a:xfrm>
            <a:off x="6858000" y="4937760"/>
            <a:ext cx="448056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$360K–$415K</a:t>
            </a:r>
            <a:endParaRPr lang="en-US" sz="2000" dirty="0"/>
          </a:p>
        </p:txBody>
      </p:sp>
      <p:sp>
        <p:nvSpPr>
          <p:cNvPr id="17" name="Text 13"/>
          <p:cNvSpPr/>
          <p:nvPr/>
        </p:nvSpPr>
        <p:spPr>
          <a:xfrm>
            <a:off x="6858000" y="5394960"/>
            <a:ext cx="448056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median price — well below the county median</a:t>
            </a:r>
            <a:endParaRPr lang="en-US" sz="1300" dirty="0"/>
          </a:p>
        </p:txBody>
      </p:sp>
      <p:sp>
        <p:nvSpPr>
          <p:cNvPr id="18" name="Text 14"/>
          <p:cNvSpPr/>
          <p:nvPr/>
        </p:nvSpPr>
        <p:spPr>
          <a:xfrm>
            <a:off x="6656832" y="6281928"/>
            <a:ext cx="4892040" cy="685800"/>
          </a:xfrm>
          <a:prstGeom prst="rect">
            <a:avLst/>
          </a:prstGeom>
          <a:noFill/>
          <a:ln/>
        </p:spPr>
        <p:txBody>
          <a:bodyPr wrap="square" lIns="0" tIns="0" rIns="0" bIns="0" rtlCol="0" anchor="ctr"/>
          <a:lstStyle/>
          <a:p>
            <a:pPr indent="0" marL="0">
              <a:lnSpc>
                <a:spcPct val="110000"/>
              </a:lnSpc>
              <a:buNone/>
            </a:pPr>
            <a:r>
              <a:rPr lang="en-US" sz="1300" i="1" dirty="0">
                <a:solidFill>
                  <a:srgbClr val="DCEAD2"/>
                </a:solidFill>
                <a:latin typeface="Calibri" pitchFamily="34" charset="0"/>
                <a:ea typeface="Calibri" pitchFamily="34" charset="-122"/>
                <a:cs typeface="Calibri" pitchFamily="34" charset="-120"/>
              </a:rPr>
              <a:t>Lean into non-renovated listings here — they’re the majority of homes and meaningfully cheaper.</a:t>
            </a:r>
            <a:endParaRPr lang="en-US" sz="1300" dirty="0"/>
          </a:p>
        </p:txBody>
      </p:sp>
      <p:sp>
        <p:nvSpPr>
          <p:cNvPr id="20" name="Text 15"/>
          <p:cNvSpPr/>
          <p:nvPr/>
        </p:nvSpPr>
        <p:spPr>
          <a:xfrm>
            <a:off x="11292840" y="6510528"/>
            <a:ext cx="777240" cy="274320"/>
          </a:xfrm>
          <a:prstGeom prst="rect">
            <a:avLst/>
          </a:prstGeom>
          <a:noFill/>
          <a:ln/>
        </p:spPr>
        <p:txBody>
          <a:bodyPr wrap="square" lIns="0" tIns="0" rIns="0" bIns="0" rtlCol="0" anchor="ctr"/>
          <a:lstStyle/>
          <a:p>
            <a:pPr algn="r" indent="0" marL="0">
              <a:buNone/>
            </a:pPr>
            <a:r>
              <a:rPr lang="en-US" sz="1000" dirty="0">
                <a:solidFill>
                  <a:srgbClr val="DCEAD2"/>
                </a:solidFill>
                <a:latin typeface="Calibri" pitchFamily="34" charset="0"/>
                <a:ea typeface="Calibri" pitchFamily="34" charset="-122"/>
                <a:cs typeface="Calibri" pitchFamily="34" charset="-120"/>
              </a:rPr>
              <a:t>10 /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502920"/>
            <a:ext cx="1069848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Final Recommendations</a:t>
            </a:r>
            <a:endParaRPr lang="en-US" sz="3400" dirty="0"/>
          </a:p>
        </p:txBody>
      </p:sp>
      <p:sp>
        <p:nvSpPr>
          <p:cNvPr id="3" name="Shape 1"/>
          <p:cNvSpPr/>
          <p:nvPr/>
        </p:nvSpPr>
        <p:spPr>
          <a:xfrm>
            <a:off x="822960" y="1783080"/>
            <a:ext cx="914400" cy="914400"/>
          </a:xfrm>
          <a:prstGeom prst="ellipse">
            <a:avLst/>
          </a:prstGeom>
          <a:solidFill>
            <a:srgbClr val="1C7293"/>
          </a:solidFill>
          <a:ln/>
        </p:spPr>
      </p:sp>
      <p:pic>
        <p:nvPicPr>
          <p:cNvPr id="4" name="Image 0" descr="preencoded.png">    </p:cNvPr>
          <p:cNvPicPr>
            <a:picLocks noChangeAspect="1"/>
          </p:cNvPicPr>
          <p:nvPr/>
        </p:nvPicPr>
        <p:blipFill>
          <a:blip r:embed="rId1"/>
          <a:stretch>
            <a:fillRect/>
          </a:stretch>
        </p:blipFill>
        <p:spPr>
          <a:xfrm>
            <a:off x="1060704" y="2020824"/>
            <a:ext cx="438912" cy="438912"/>
          </a:xfrm>
          <a:prstGeom prst="rect">
            <a:avLst/>
          </a:prstGeom>
        </p:spPr>
      </p:pic>
      <p:sp>
        <p:nvSpPr>
          <p:cNvPr id="5" name="Text 2"/>
          <p:cNvSpPr/>
          <p:nvPr/>
        </p:nvSpPr>
        <p:spPr>
          <a:xfrm>
            <a:off x="2011680" y="1737360"/>
            <a:ext cx="2926080" cy="9144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City home</a:t>
            </a:r>
            <a:endParaRPr lang="en-US" sz="2000" dirty="0"/>
          </a:p>
        </p:txBody>
      </p:sp>
      <p:sp>
        <p:nvSpPr>
          <p:cNvPr id="6" name="Text 3"/>
          <p:cNvSpPr/>
          <p:nvPr/>
        </p:nvSpPr>
        <p:spPr>
          <a:xfrm>
            <a:off x="4846320" y="1709928"/>
            <a:ext cx="6675120" cy="1508760"/>
          </a:xfrm>
          <a:prstGeom prst="rect">
            <a:avLst/>
          </a:prstGeom>
          <a:noFill/>
          <a:ln/>
        </p:spPr>
        <p:txBody>
          <a:bodyPr wrap="square" lIns="0" tIns="0" rIns="0" bIns="0" rtlCol="0" anchor="ctr"/>
          <a:lstStyle/>
          <a:p>
            <a:pPr indent="0" marL="0">
              <a:lnSpc>
                <a:spcPct val="115000"/>
              </a:lnSpc>
              <a:buNone/>
            </a:pPr>
            <a:r>
              <a:rPr lang="en-US" sz="1400" dirty="0">
                <a:solidFill>
                  <a:srgbClr val="CADCFC"/>
                </a:solidFill>
                <a:latin typeface="Calibri" pitchFamily="34" charset="0"/>
                <a:ea typeface="Calibri" pitchFamily="34" charset="-122"/>
                <a:cs typeface="Calibri" pitchFamily="34" charset="-120"/>
              </a:rPr>
              <a:t>Target zip 98118 — closest high-turnover, affordable zip to downtown. Filter to 1–3 bedrooms.</a:t>
            </a:r>
            <a:endParaRPr lang="en-US" sz="1400" dirty="0"/>
          </a:p>
        </p:txBody>
      </p:sp>
      <p:sp>
        <p:nvSpPr>
          <p:cNvPr id="7" name="Shape 4"/>
          <p:cNvSpPr/>
          <p:nvPr/>
        </p:nvSpPr>
        <p:spPr>
          <a:xfrm>
            <a:off x="822960" y="3355848"/>
            <a:ext cx="914400" cy="914400"/>
          </a:xfrm>
          <a:prstGeom prst="ellipse">
            <a:avLst/>
          </a:prstGeom>
          <a:solidFill>
            <a:srgbClr val="2C5F2D"/>
          </a:solidFill>
          <a:ln/>
        </p:spPr>
      </p:sp>
      <p:pic>
        <p:nvPicPr>
          <p:cNvPr id="8" name="Image 1" descr="preencoded.png">    </p:cNvPr>
          <p:cNvPicPr>
            <a:picLocks noChangeAspect="1"/>
          </p:cNvPicPr>
          <p:nvPr/>
        </p:nvPicPr>
        <p:blipFill>
          <a:blip r:embed="rId2"/>
          <a:stretch>
            <a:fillRect/>
          </a:stretch>
        </p:blipFill>
        <p:spPr>
          <a:xfrm>
            <a:off x="1060704" y="3593592"/>
            <a:ext cx="438912" cy="438912"/>
          </a:xfrm>
          <a:prstGeom prst="rect">
            <a:avLst/>
          </a:prstGeom>
        </p:spPr>
      </p:pic>
      <p:sp>
        <p:nvSpPr>
          <p:cNvPr id="9" name="Text 5"/>
          <p:cNvSpPr/>
          <p:nvPr/>
        </p:nvSpPr>
        <p:spPr>
          <a:xfrm>
            <a:off x="2011680" y="3310128"/>
            <a:ext cx="2926080" cy="9144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Country home</a:t>
            </a:r>
            <a:endParaRPr lang="en-US" sz="2000" dirty="0"/>
          </a:p>
        </p:txBody>
      </p:sp>
      <p:sp>
        <p:nvSpPr>
          <p:cNvPr id="10" name="Text 6"/>
          <p:cNvSpPr/>
          <p:nvPr/>
        </p:nvSpPr>
        <p:spPr>
          <a:xfrm>
            <a:off x="4846320" y="3282696"/>
            <a:ext cx="6675120" cy="1508760"/>
          </a:xfrm>
          <a:prstGeom prst="rect">
            <a:avLst/>
          </a:prstGeom>
          <a:noFill/>
          <a:ln/>
        </p:spPr>
        <p:txBody>
          <a:bodyPr wrap="square" lIns="0" tIns="0" rIns="0" bIns="0" rtlCol="0" anchor="ctr"/>
          <a:lstStyle/>
          <a:p>
            <a:pPr indent="0" marL="0">
              <a:lnSpc>
                <a:spcPct val="115000"/>
              </a:lnSpc>
              <a:buNone/>
            </a:pPr>
            <a:r>
              <a:rPr lang="en-US" sz="1400" dirty="0">
                <a:solidFill>
                  <a:srgbClr val="CADCFC"/>
                </a:solidFill>
                <a:latin typeface="Calibri" pitchFamily="34" charset="0"/>
                <a:ea typeface="Calibri" pitchFamily="34" charset="-122"/>
                <a:cs typeface="Calibri" pitchFamily="34" charset="-120"/>
              </a:rPr>
              <a:t>Target zip 98010 or 98014 — genuinely rural and affordable. Lean into non-renovated listings.</a:t>
            </a:r>
            <a:endParaRPr lang="en-US" sz="1400" dirty="0"/>
          </a:p>
        </p:txBody>
      </p:sp>
      <p:sp>
        <p:nvSpPr>
          <p:cNvPr id="11" name="Shape 7"/>
          <p:cNvSpPr/>
          <p:nvPr/>
        </p:nvSpPr>
        <p:spPr>
          <a:xfrm>
            <a:off x="822960" y="4928616"/>
            <a:ext cx="914400" cy="914400"/>
          </a:xfrm>
          <a:prstGeom prst="ellipse">
            <a:avLst/>
          </a:prstGeom>
          <a:solidFill>
            <a:srgbClr val="5B4B8A"/>
          </a:solidFill>
          <a:ln/>
        </p:spPr>
      </p:sp>
      <p:pic>
        <p:nvPicPr>
          <p:cNvPr id="12" name="Image 2" descr="preencoded.png">    </p:cNvPr>
          <p:cNvPicPr>
            <a:picLocks noChangeAspect="1"/>
          </p:cNvPicPr>
          <p:nvPr/>
        </p:nvPicPr>
        <p:blipFill>
          <a:blip r:embed="rId3"/>
          <a:stretch>
            <a:fillRect/>
          </a:stretch>
        </p:blipFill>
        <p:spPr>
          <a:xfrm>
            <a:off x="1060704" y="5166360"/>
            <a:ext cx="438912" cy="438912"/>
          </a:xfrm>
          <a:prstGeom prst="rect">
            <a:avLst/>
          </a:prstGeom>
        </p:spPr>
      </p:pic>
      <p:sp>
        <p:nvSpPr>
          <p:cNvPr id="13" name="Text 8"/>
          <p:cNvSpPr/>
          <p:nvPr/>
        </p:nvSpPr>
        <p:spPr>
          <a:xfrm>
            <a:off x="2011680" y="4882896"/>
            <a:ext cx="2926080" cy="9144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Timing</a:t>
            </a:r>
            <a:endParaRPr lang="en-US" sz="2000" dirty="0"/>
          </a:p>
        </p:txBody>
      </p:sp>
      <p:sp>
        <p:nvSpPr>
          <p:cNvPr id="14" name="Text 9"/>
          <p:cNvSpPr/>
          <p:nvPr/>
        </p:nvSpPr>
        <p:spPr>
          <a:xfrm>
            <a:off x="4846320" y="4855464"/>
            <a:ext cx="6675120" cy="1508760"/>
          </a:xfrm>
          <a:prstGeom prst="rect">
            <a:avLst/>
          </a:prstGeom>
          <a:noFill/>
          <a:ln/>
        </p:spPr>
        <p:txBody>
          <a:bodyPr wrap="square" lIns="0" tIns="0" rIns="0" bIns="0" rtlCol="0" anchor="ctr"/>
          <a:lstStyle/>
          <a:p>
            <a:pPr indent="0" marL="0">
              <a:lnSpc>
                <a:spcPct val="115000"/>
              </a:lnSpc>
              <a:buNone/>
            </a:pPr>
            <a:r>
              <a:rPr lang="en-US" sz="1400" dirty="0">
                <a:solidFill>
                  <a:srgbClr val="CADCFC"/>
                </a:solidFill>
                <a:latin typeface="Calibri" pitchFamily="34" charset="0"/>
                <a:ea typeface="Calibri" pitchFamily="34" charset="-122"/>
                <a:cs typeface="Calibri" pitchFamily="34" charset="-120"/>
              </a:rPr>
              <a:t>Country home: close in August for the lowest price ($493,725), or May for ~18% more inventory at only a ~9% premium. City home: timing matters less since speed comes first, but November is the cheapest month ($537,500) if there's flexibility — the two searches don't share one seasonal pattern.</a:t>
            </a:r>
            <a:endParaRPr lang="en-US" sz="1400" dirty="0"/>
          </a:p>
        </p:txBody>
      </p:sp>
      <p:sp>
        <p:nvSpPr>
          <p:cNvPr id="16" name="Text 10"/>
          <p:cNvSpPr/>
          <p:nvPr/>
        </p:nvSpPr>
        <p:spPr>
          <a:xfrm>
            <a:off x="11292840" y="6510528"/>
            <a:ext cx="77724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11 /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5184648" y="2103120"/>
            <a:ext cx="1828800" cy="1828800"/>
          </a:xfrm>
          <a:prstGeom prst="ellipse">
            <a:avLst/>
          </a:prstGeom>
          <a:solidFill>
            <a:srgbClr val="27346E"/>
          </a:solidFill>
          <a:ln/>
        </p:spPr>
      </p:sp>
      <p:pic>
        <p:nvPicPr>
          <p:cNvPr id="3" name="Image 0" descr="preencoded.png">    </p:cNvPr>
          <p:cNvPicPr>
            <a:picLocks noChangeAspect="1"/>
          </p:cNvPicPr>
          <p:nvPr/>
        </p:nvPicPr>
        <p:blipFill>
          <a:blip r:embed="rId1"/>
          <a:stretch>
            <a:fillRect/>
          </a:stretch>
        </p:blipFill>
        <p:spPr>
          <a:xfrm>
            <a:off x="5660136" y="2578608"/>
            <a:ext cx="877824" cy="877824"/>
          </a:xfrm>
          <a:prstGeom prst="rect">
            <a:avLst/>
          </a:prstGeom>
        </p:spPr>
      </p:pic>
      <p:sp>
        <p:nvSpPr>
          <p:cNvPr id="4" name="Text 1"/>
          <p:cNvSpPr/>
          <p:nvPr/>
        </p:nvSpPr>
        <p:spPr>
          <a:xfrm>
            <a:off x="731520" y="4206240"/>
            <a:ext cx="10698480" cy="822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2"/>
          <p:cNvSpPr/>
          <p:nvPr/>
        </p:nvSpPr>
        <p:spPr>
          <a:xfrm>
            <a:off x="731520" y="5029200"/>
            <a:ext cx="10698480" cy="548640"/>
          </a:xfrm>
          <a:prstGeom prst="rect">
            <a:avLst/>
          </a:prstGeom>
          <a:noFill/>
          <a:ln/>
        </p:spPr>
        <p:txBody>
          <a:bodyPr wrap="square" lIns="0" tIns="0" rIns="0" bIns="0"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Questions &amp; discussion</a:t>
            </a:r>
            <a:endParaRPr lang="en-US" sz="1800" dirty="0"/>
          </a:p>
        </p:txBody>
      </p:sp>
      <p:sp>
        <p:nvSpPr>
          <p:cNvPr id="7" name="Text 3"/>
          <p:cNvSpPr/>
          <p:nvPr/>
        </p:nvSpPr>
        <p:spPr>
          <a:xfrm>
            <a:off x="11292840" y="6510528"/>
            <a:ext cx="777240" cy="274320"/>
          </a:xfrm>
          <a:prstGeom prst="rect">
            <a:avLst/>
          </a:prstGeom>
          <a:noFill/>
          <a:ln/>
        </p:spPr>
        <p:txBody>
          <a:bodyPr wrap="square" lIns="0" tIns="0" rIns="0" bIns="0" rtlCol="0" anchor="ctr"/>
          <a:lstStyle/>
          <a:p>
            <a:pPr algn="r" indent="0" marL="0">
              <a:buNone/>
            </a:pPr>
            <a:r>
              <a:rPr lang="en-US" sz="1000" dirty="0">
                <a:solidFill>
                  <a:srgbClr val="CADCFC"/>
                </a:solidFill>
                <a:latin typeface="Calibri" pitchFamily="34" charset="0"/>
                <a:ea typeface="Calibri" pitchFamily="34" charset="-122"/>
                <a:cs typeface="Calibri" pitchFamily="34" charset="-120"/>
              </a:rPr>
              <a:t>12 / 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2026-07-26T18:07:29Z</dcterms:created>
  <dcterms:modified xsi:type="dcterms:W3CDTF">2026-07-26T18:07:29Z</dcterms:modified>
</cp:coreProperties>
</file>